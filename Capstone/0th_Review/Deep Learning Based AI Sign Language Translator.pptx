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1" r:id="rId5"/>
    <p:sldId id="275" r:id="rId6"/>
    <p:sldId id="264" r:id="rId7"/>
    <p:sldId id="265" r:id="rId8"/>
    <p:sldId id="266" r:id="rId9"/>
    <p:sldId id="260" r:id="rId10"/>
    <p:sldId id="268" r:id="rId11"/>
    <p:sldId id="271" r:id="rId12"/>
    <p:sldId id="272" r:id="rId13"/>
    <p:sldId id="273" r:id="rId14"/>
    <p:sldId id="27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3877E4-48F0-4FAE-AB63-BB3BBB078A3E}" type="datetimeFigureOut">
              <a:rPr lang="en-IN" smtClean="0"/>
              <a:t>25-07-2026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94629D-32F0-4FAB-A385-F91009FB117A}" type="slidenum">
              <a:rPr lang="en-IN" smtClean="0"/>
              <a:t>‹#›</a:t>
            </a:fld>
            <a:endParaRPr lang="en-IN"/>
          </a:p>
        </p:txBody>
      </p:sp>
    </p:spTree>
    <p:extLst>
      <p:ext uri="{BB962C8B-B14F-4D97-AF65-F5344CB8AC3E}">
        <p14:creationId xmlns:p14="http://schemas.microsoft.com/office/powerpoint/2010/main" val="2576512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9647C31-7157-4C2E-9E39-ED1461A5BF0B}" type="slidenum">
              <a:rPr lang="en-IN" smtClean="0"/>
              <a:t>9</a:t>
            </a:fld>
            <a:endParaRPr lang="en-IN"/>
          </a:p>
        </p:txBody>
      </p:sp>
    </p:spTree>
    <p:extLst>
      <p:ext uri="{BB962C8B-B14F-4D97-AF65-F5344CB8AC3E}">
        <p14:creationId xmlns:p14="http://schemas.microsoft.com/office/powerpoint/2010/main" val="2045733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20B8A-C603-CD6F-84D4-7037DBF5CF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78DC687-A5B5-858E-CD01-B03CE7A43A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6215CE4-AC94-1613-F50E-BAF6A9E85AEC}"/>
              </a:ext>
            </a:extLst>
          </p:cNvPr>
          <p:cNvSpPr>
            <a:spLocks noGrp="1"/>
          </p:cNvSpPr>
          <p:nvPr>
            <p:ph type="dt" sz="half" idx="10"/>
          </p:nvPr>
        </p:nvSpPr>
        <p:spPr/>
        <p:txBody>
          <a:bodyPr/>
          <a:lstStyle/>
          <a:p>
            <a:fld id="{C43CEFB2-B8E3-4355-AA4F-4DAFCB4B17B6}" type="datetimeFigureOut">
              <a:rPr lang="en-IN" smtClean="0"/>
              <a:t>25-07-2026</a:t>
            </a:fld>
            <a:endParaRPr lang="en-IN"/>
          </a:p>
        </p:txBody>
      </p:sp>
      <p:sp>
        <p:nvSpPr>
          <p:cNvPr id="5" name="Footer Placeholder 4">
            <a:extLst>
              <a:ext uri="{FF2B5EF4-FFF2-40B4-BE49-F238E27FC236}">
                <a16:creationId xmlns:a16="http://schemas.microsoft.com/office/drawing/2014/main" id="{1E8CA4BD-31E2-F49F-62CA-4D054BB71A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1A564F-B499-5052-70C3-AFE39AE7A39F}"/>
              </a:ext>
            </a:extLst>
          </p:cNvPr>
          <p:cNvSpPr>
            <a:spLocks noGrp="1"/>
          </p:cNvSpPr>
          <p:nvPr>
            <p:ph type="sldNum" sz="quarter" idx="12"/>
          </p:nvPr>
        </p:nvSpPr>
        <p:spPr/>
        <p:txBody>
          <a:bodyPr/>
          <a:lstStyle/>
          <a:p>
            <a:fld id="{3904EA88-286C-4026-845D-E9FEDA3E0A36}" type="slidenum">
              <a:rPr lang="en-IN" smtClean="0"/>
              <a:t>‹#›</a:t>
            </a:fld>
            <a:endParaRPr lang="en-IN"/>
          </a:p>
        </p:txBody>
      </p:sp>
    </p:spTree>
    <p:extLst>
      <p:ext uri="{BB962C8B-B14F-4D97-AF65-F5344CB8AC3E}">
        <p14:creationId xmlns:p14="http://schemas.microsoft.com/office/powerpoint/2010/main" val="1173074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E9269-D5CC-8BD6-7E9A-AF74259151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2CDE82-DA49-A61A-EC6A-E8E935C8EE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5C9E97-34F0-B86D-D748-7A3AA4339663}"/>
              </a:ext>
            </a:extLst>
          </p:cNvPr>
          <p:cNvSpPr>
            <a:spLocks noGrp="1"/>
          </p:cNvSpPr>
          <p:nvPr>
            <p:ph type="dt" sz="half" idx="10"/>
          </p:nvPr>
        </p:nvSpPr>
        <p:spPr/>
        <p:txBody>
          <a:bodyPr/>
          <a:lstStyle/>
          <a:p>
            <a:fld id="{C43CEFB2-B8E3-4355-AA4F-4DAFCB4B17B6}" type="datetimeFigureOut">
              <a:rPr lang="en-IN" smtClean="0"/>
              <a:t>25-07-2026</a:t>
            </a:fld>
            <a:endParaRPr lang="en-IN"/>
          </a:p>
        </p:txBody>
      </p:sp>
      <p:sp>
        <p:nvSpPr>
          <p:cNvPr id="5" name="Footer Placeholder 4">
            <a:extLst>
              <a:ext uri="{FF2B5EF4-FFF2-40B4-BE49-F238E27FC236}">
                <a16:creationId xmlns:a16="http://schemas.microsoft.com/office/drawing/2014/main" id="{1B65E61F-BBB7-4945-F205-485795EB24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531772-0B35-B112-C710-E61CE26D7D58}"/>
              </a:ext>
            </a:extLst>
          </p:cNvPr>
          <p:cNvSpPr>
            <a:spLocks noGrp="1"/>
          </p:cNvSpPr>
          <p:nvPr>
            <p:ph type="sldNum" sz="quarter" idx="12"/>
          </p:nvPr>
        </p:nvSpPr>
        <p:spPr/>
        <p:txBody>
          <a:bodyPr/>
          <a:lstStyle/>
          <a:p>
            <a:fld id="{3904EA88-286C-4026-845D-E9FEDA3E0A36}" type="slidenum">
              <a:rPr lang="en-IN" smtClean="0"/>
              <a:t>‹#›</a:t>
            </a:fld>
            <a:endParaRPr lang="en-IN"/>
          </a:p>
        </p:txBody>
      </p:sp>
    </p:spTree>
    <p:extLst>
      <p:ext uri="{BB962C8B-B14F-4D97-AF65-F5344CB8AC3E}">
        <p14:creationId xmlns:p14="http://schemas.microsoft.com/office/powerpoint/2010/main" val="3759851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C8BF2-08D3-BFCC-994A-77047AF947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7375E0A-A4BF-F001-A819-AD8124291FC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2C2A8F-BE97-F848-77C4-3D1DB0A800C5}"/>
              </a:ext>
            </a:extLst>
          </p:cNvPr>
          <p:cNvSpPr>
            <a:spLocks noGrp="1"/>
          </p:cNvSpPr>
          <p:nvPr>
            <p:ph type="dt" sz="half" idx="10"/>
          </p:nvPr>
        </p:nvSpPr>
        <p:spPr/>
        <p:txBody>
          <a:bodyPr/>
          <a:lstStyle/>
          <a:p>
            <a:fld id="{C43CEFB2-B8E3-4355-AA4F-4DAFCB4B17B6}" type="datetimeFigureOut">
              <a:rPr lang="en-IN" smtClean="0"/>
              <a:t>25-07-2026</a:t>
            </a:fld>
            <a:endParaRPr lang="en-IN"/>
          </a:p>
        </p:txBody>
      </p:sp>
      <p:sp>
        <p:nvSpPr>
          <p:cNvPr id="5" name="Footer Placeholder 4">
            <a:extLst>
              <a:ext uri="{FF2B5EF4-FFF2-40B4-BE49-F238E27FC236}">
                <a16:creationId xmlns:a16="http://schemas.microsoft.com/office/drawing/2014/main" id="{B90701A0-13AE-53FD-C822-550FCA98E4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6D4417-9C44-09D9-D662-272F2BE7A7C3}"/>
              </a:ext>
            </a:extLst>
          </p:cNvPr>
          <p:cNvSpPr>
            <a:spLocks noGrp="1"/>
          </p:cNvSpPr>
          <p:nvPr>
            <p:ph type="sldNum" sz="quarter" idx="12"/>
          </p:nvPr>
        </p:nvSpPr>
        <p:spPr/>
        <p:txBody>
          <a:bodyPr/>
          <a:lstStyle/>
          <a:p>
            <a:fld id="{3904EA88-286C-4026-845D-E9FEDA3E0A36}" type="slidenum">
              <a:rPr lang="en-IN" smtClean="0"/>
              <a:t>‹#›</a:t>
            </a:fld>
            <a:endParaRPr lang="en-IN"/>
          </a:p>
        </p:txBody>
      </p:sp>
    </p:spTree>
    <p:extLst>
      <p:ext uri="{BB962C8B-B14F-4D97-AF65-F5344CB8AC3E}">
        <p14:creationId xmlns:p14="http://schemas.microsoft.com/office/powerpoint/2010/main" val="2832913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14CB1-4D91-6A86-2655-62B383A6D30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1F8C4F8-C46B-2144-6368-C421F08263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13A828A-51DA-B6B2-845C-4240C65ECC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5CE4EDF-2EA7-9E9D-9E03-6911BFF59EE4}"/>
              </a:ext>
            </a:extLst>
          </p:cNvPr>
          <p:cNvSpPr>
            <a:spLocks noGrp="1"/>
          </p:cNvSpPr>
          <p:nvPr>
            <p:ph type="dt" sz="half" idx="10"/>
          </p:nvPr>
        </p:nvSpPr>
        <p:spPr/>
        <p:txBody>
          <a:bodyPr/>
          <a:lstStyle/>
          <a:p>
            <a:fld id="{C43CEFB2-B8E3-4355-AA4F-4DAFCB4B17B6}" type="datetimeFigureOut">
              <a:rPr lang="en-IN" smtClean="0"/>
              <a:t>25-07-2026</a:t>
            </a:fld>
            <a:endParaRPr lang="en-IN"/>
          </a:p>
        </p:txBody>
      </p:sp>
      <p:sp>
        <p:nvSpPr>
          <p:cNvPr id="6" name="Footer Placeholder 5">
            <a:extLst>
              <a:ext uri="{FF2B5EF4-FFF2-40B4-BE49-F238E27FC236}">
                <a16:creationId xmlns:a16="http://schemas.microsoft.com/office/drawing/2014/main" id="{204FBDA1-7D61-5A94-988F-95CF069055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20C02D-D4C2-2C68-6759-9C68DE8D59FF}"/>
              </a:ext>
            </a:extLst>
          </p:cNvPr>
          <p:cNvSpPr>
            <a:spLocks noGrp="1"/>
          </p:cNvSpPr>
          <p:nvPr>
            <p:ph type="sldNum" sz="quarter" idx="12"/>
          </p:nvPr>
        </p:nvSpPr>
        <p:spPr/>
        <p:txBody>
          <a:bodyPr/>
          <a:lstStyle/>
          <a:p>
            <a:fld id="{3904EA88-286C-4026-845D-E9FEDA3E0A36}" type="slidenum">
              <a:rPr lang="en-IN" smtClean="0"/>
              <a:t>‹#›</a:t>
            </a:fld>
            <a:endParaRPr lang="en-IN"/>
          </a:p>
        </p:txBody>
      </p:sp>
    </p:spTree>
    <p:extLst>
      <p:ext uri="{BB962C8B-B14F-4D97-AF65-F5344CB8AC3E}">
        <p14:creationId xmlns:p14="http://schemas.microsoft.com/office/powerpoint/2010/main" val="1138775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1FC2E-C5E9-BD5E-58C9-B2C1BE49D19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66307E9-0F7B-0997-8D92-0232990A62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7DFF7C-C3CF-F66A-AE4F-A17235EC04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8834C53-AA77-F408-8143-8E1E318EF3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72FAC2-0DCC-67FC-7154-3D759A55F4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4A6F366-0AE2-4E8E-FC28-5BE0B63405CA}"/>
              </a:ext>
            </a:extLst>
          </p:cNvPr>
          <p:cNvSpPr>
            <a:spLocks noGrp="1"/>
          </p:cNvSpPr>
          <p:nvPr>
            <p:ph type="dt" sz="half" idx="10"/>
          </p:nvPr>
        </p:nvSpPr>
        <p:spPr/>
        <p:txBody>
          <a:bodyPr/>
          <a:lstStyle/>
          <a:p>
            <a:fld id="{C43CEFB2-B8E3-4355-AA4F-4DAFCB4B17B6}" type="datetimeFigureOut">
              <a:rPr lang="en-IN" smtClean="0"/>
              <a:t>25-07-2026</a:t>
            </a:fld>
            <a:endParaRPr lang="en-IN"/>
          </a:p>
        </p:txBody>
      </p:sp>
      <p:sp>
        <p:nvSpPr>
          <p:cNvPr id="8" name="Footer Placeholder 7">
            <a:extLst>
              <a:ext uri="{FF2B5EF4-FFF2-40B4-BE49-F238E27FC236}">
                <a16:creationId xmlns:a16="http://schemas.microsoft.com/office/drawing/2014/main" id="{75458572-8C44-8718-A7E8-87E1064D5F3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C3D2B5B-26CA-C365-A927-5FE9FAB7CBC7}"/>
              </a:ext>
            </a:extLst>
          </p:cNvPr>
          <p:cNvSpPr>
            <a:spLocks noGrp="1"/>
          </p:cNvSpPr>
          <p:nvPr>
            <p:ph type="sldNum" sz="quarter" idx="12"/>
          </p:nvPr>
        </p:nvSpPr>
        <p:spPr/>
        <p:txBody>
          <a:bodyPr/>
          <a:lstStyle/>
          <a:p>
            <a:fld id="{3904EA88-286C-4026-845D-E9FEDA3E0A36}" type="slidenum">
              <a:rPr lang="en-IN" smtClean="0"/>
              <a:t>‹#›</a:t>
            </a:fld>
            <a:endParaRPr lang="en-IN"/>
          </a:p>
        </p:txBody>
      </p:sp>
    </p:spTree>
    <p:extLst>
      <p:ext uri="{BB962C8B-B14F-4D97-AF65-F5344CB8AC3E}">
        <p14:creationId xmlns:p14="http://schemas.microsoft.com/office/powerpoint/2010/main" val="67487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59042-B555-FF54-E9C4-19E872E5BEE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A726194-96FC-453A-F86A-1765E27C1DA5}"/>
              </a:ext>
            </a:extLst>
          </p:cNvPr>
          <p:cNvSpPr>
            <a:spLocks noGrp="1"/>
          </p:cNvSpPr>
          <p:nvPr>
            <p:ph type="dt" sz="half" idx="10"/>
          </p:nvPr>
        </p:nvSpPr>
        <p:spPr/>
        <p:txBody>
          <a:bodyPr/>
          <a:lstStyle/>
          <a:p>
            <a:fld id="{C43CEFB2-B8E3-4355-AA4F-4DAFCB4B17B6}" type="datetimeFigureOut">
              <a:rPr lang="en-IN" smtClean="0"/>
              <a:t>25-07-2026</a:t>
            </a:fld>
            <a:endParaRPr lang="en-IN"/>
          </a:p>
        </p:txBody>
      </p:sp>
      <p:sp>
        <p:nvSpPr>
          <p:cNvPr id="4" name="Footer Placeholder 3">
            <a:extLst>
              <a:ext uri="{FF2B5EF4-FFF2-40B4-BE49-F238E27FC236}">
                <a16:creationId xmlns:a16="http://schemas.microsoft.com/office/drawing/2014/main" id="{13E76CE3-428F-E688-4120-1B93DD6E0B8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C188274-C08B-4B68-BA6C-A37FD84F76F5}"/>
              </a:ext>
            </a:extLst>
          </p:cNvPr>
          <p:cNvSpPr>
            <a:spLocks noGrp="1"/>
          </p:cNvSpPr>
          <p:nvPr>
            <p:ph type="sldNum" sz="quarter" idx="12"/>
          </p:nvPr>
        </p:nvSpPr>
        <p:spPr/>
        <p:txBody>
          <a:bodyPr/>
          <a:lstStyle/>
          <a:p>
            <a:fld id="{3904EA88-286C-4026-845D-E9FEDA3E0A36}" type="slidenum">
              <a:rPr lang="en-IN" smtClean="0"/>
              <a:t>‹#›</a:t>
            </a:fld>
            <a:endParaRPr lang="en-IN"/>
          </a:p>
        </p:txBody>
      </p:sp>
    </p:spTree>
    <p:extLst>
      <p:ext uri="{BB962C8B-B14F-4D97-AF65-F5344CB8AC3E}">
        <p14:creationId xmlns:p14="http://schemas.microsoft.com/office/powerpoint/2010/main" val="1436110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3D2383-3EC2-C58B-A576-2E8F685F5DB3}"/>
              </a:ext>
            </a:extLst>
          </p:cNvPr>
          <p:cNvSpPr>
            <a:spLocks noGrp="1"/>
          </p:cNvSpPr>
          <p:nvPr>
            <p:ph type="dt" sz="half" idx="10"/>
          </p:nvPr>
        </p:nvSpPr>
        <p:spPr/>
        <p:txBody>
          <a:bodyPr/>
          <a:lstStyle/>
          <a:p>
            <a:fld id="{C43CEFB2-B8E3-4355-AA4F-4DAFCB4B17B6}" type="datetimeFigureOut">
              <a:rPr lang="en-IN" smtClean="0"/>
              <a:t>25-07-2026</a:t>
            </a:fld>
            <a:endParaRPr lang="en-IN"/>
          </a:p>
        </p:txBody>
      </p:sp>
      <p:sp>
        <p:nvSpPr>
          <p:cNvPr id="3" name="Footer Placeholder 2">
            <a:extLst>
              <a:ext uri="{FF2B5EF4-FFF2-40B4-BE49-F238E27FC236}">
                <a16:creationId xmlns:a16="http://schemas.microsoft.com/office/drawing/2014/main" id="{BC2FF299-8C48-8CE9-9D9E-4DF5B727249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6F94B41-7662-95A1-8AC4-30EB76F32BD9}"/>
              </a:ext>
            </a:extLst>
          </p:cNvPr>
          <p:cNvSpPr>
            <a:spLocks noGrp="1"/>
          </p:cNvSpPr>
          <p:nvPr>
            <p:ph type="sldNum" sz="quarter" idx="12"/>
          </p:nvPr>
        </p:nvSpPr>
        <p:spPr/>
        <p:txBody>
          <a:bodyPr/>
          <a:lstStyle/>
          <a:p>
            <a:fld id="{3904EA88-286C-4026-845D-E9FEDA3E0A36}" type="slidenum">
              <a:rPr lang="en-IN" smtClean="0"/>
              <a:t>‹#›</a:t>
            </a:fld>
            <a:endParaRPr lang="en-IN"/>
          </a:p>
        </p:txBody>
      </p:sp>
    </p:spTree>
    <p:extLst>
      <p:ext uri="{BB962C8B-B14F-4D97-AF65-F5344CB8AC3E}">
        <p14:creationId xmlns:p14="http://schemas.microsoft.com/office/powerpoint/2010/main" val="488603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5375D-1927-993A-4627-305B543EA2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F14835F-789F-F08C-659C-9460B841A3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B0000E5-2670-C1BB-5008-AFD9C80F1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47A88C-07D9-571A-C66D-9F0C89A1DE1E}"/>
              </a:ext>
            </a:extLst>
          </p:cNvPr>
          <p:cNvSpPr>
            <a:spLocks noGrp="1"/>
          </p:cNvSpPr>
          <p:nvPr>
            <p:ph type="dt" sz="half" idx="10"/>
          </p:nvPr>
        </p:nvSpPr>
        <p:spPr/>
        <p:txBody>
          <a:bodyPr/>
          <a:lstStyle/>
          <a:p>
            <a:fld id="{C43CEFB2-B8E3-4355-AA4F-4DAFCB4B17B6}" type="datetimeFigureOut">
              <a:rPr lang="en-IN" smtClean="0"/>
              <a:t>25-07-2026</a:t>
            </a:fld>
            <a:endParaRPr lang="en-IN"/>
          </a:p>
        </p:txBody>
      </p:sp>
      <p:sp>
        <p:nvSpPr>
          <p:cNvPr id="6" name="Footer Placeholder 5">
            <a:extLst>
              <a:ext uri="{FF2B5EF4-FFF2-40B4-BE49-F238E27FC236}">
                <a16:creationId xmlns:a16="http://schemas.microsoft.com/office/drawing/2014/main" id="{915F6C35-FD2A-2A0A-E104-A62ACBBB2A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BE777D-ABDF-4587-5437-0B755ED81DC6}"/>
              </a:ext>
            </a:extLst>
          </p:cNvPr>
          <p:cNvSpPr>
            <a:spLocks noGrp="1"/>
          </p:cNvSpPr>
          <p:nvPr>
            <p:ph type="sldNum" sz="quarter" idx="12"/>
          </p:nvPr>
        </p:nvSpPr>
        <p:spPr/>
        <p:txBody>
          <a:bodyPr/>
          <a:lstStyle/>
          <a:p>
            <a:fld id="{3904EA88-286C-4026-845D-E9FEDA3E0A36}" type="slidenum">
              <a:rPr lang="en-IN" smtClean="0"/>
              <a:t>‹#›</a:t>
            </a:fld>
            <a:endParaRPr lang="en-IN"/>
          </a:p>
        </p:txBody>
      </p:sp>
    </p:spTree>
    <p:extLst>
      <p:ext uri="{BB962C8B-B14F-4D97-AF65-F5344CB8AC3E}">
        <p14:creationId xmlns:p14="http://schemas.microsoft.com/office/powerpoint/2010/main" val="2348976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EAF7B-33A0-3ED7-E893-3C01665E2E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060461A-D574-5C3B-0829-5B2DC79573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4B222ED-0FB5-0E42-2451-FE6F154FB3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460904-80BD-613C-C9BA-BB5281FF9773}"/>
              </a:ext>
            </a:extLst>
          </p:cNvPr>
          <p:cNvSpPr>
            <a:spLocks noGrp="1"/>
          </p:cNvSpPr>
          <p:nvPr>
            <p:ph type="dt" sz="half" idx="10"/>
          </p:nvPr>
        </p:nvSpPr>
        <p:spPr/>
        <p:txBody>
          <a:bodyPr/>
          <a:lstStyle/>
          <a:p>
            <a:fld id="{C43CEFB2-B8E3-4355-AA4F-4DAFCB4B17B6}" type="datetimeFigureOut">
              <a:rPr lang="en-IN" smtClean="0"/>
              <a:t>25-07-2026</a:t>
            </a:fld>
            <a:endParaRPr lang="en-IN"/>
          </a:p>
        </p:txBody>
      </p:sp>
      <p:sp>
        <p:nvSpPr>
          <p:cNvPr id="6" name="Footer Placeholder 5">
            <a:extLst>
              <a:ext uri="{FF2B5EF4-FFF2-40B4-BE49-F238E27FC236}">
                <a16:creationId xmlns:a16="http://schemas.microsoft.com/office/drawing/2014/main" id="{E33F240B-1F86-AFAA-B226-151A070E0D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37C47D-D95B-EF7A-7FD1-B9618AA5DCC4}"/>
              </a:ext>
            </a:extLst>
          </p:cNvPr>
          <p:cNvSpPr>
            <a:spLocks noGrp="1"/>
          </p:cNvSpPr>
          <p:nvPr>
            <p:ph type="sldNum" sz="quarter" idx="12"/>
          </p:nvPr>
        </p:nvSpPr>
        <p:spPr/>
        <p:txBody>
          <a:bodyPr/>
          <a:lstStyle/>
          <a:p>
            <a:fld id="{3904EA88-286C-4026-845D-E9FEDA3E0A36}" type="slidenum">
              <a:rPr lang="en-IN" smtClean="0"/>
              <a:t>‹#›</a:t>
            </a:fld>
            <a:endParaRPr lang="en-IN"/>
          </a:p>
        </p:txBody>
      </p:sp>
    </p:spTree>
    <p:extLst>
      <p:ext uri="{BB962C8B-B14F-4D97-AF65-F5344CB8AC3E}">
        <p14:creationId xmlns:p14="http://schemas.microsoft.com/office/powerpoint/2010/main" val="3800811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D817B-11F8-8E5B-673D-E9CBA822E7E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FD05FE-57D2-7678-F80E-0A9B962C91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D089A0-DE00-532D-498A-D102B6574029}"/>
              </a:ext>
            </a:extLst>
          </p:cNvPr>
          <p:cNvSpPr>
            <a:spLocks noGrp="1"/>
          </p:cNvSpPr>
          <p:nvPr>
            <p:ph type="dt" sz="half" idx="10"/>
          </p:nvPr>
        </p:nvSpPr>
        <p:spPr/>
        <p:txBody>
          <a:bodyPr/>
          <a:lstStyle/>
          <a:p>
            <a:fld id="{C43CEFB2-B8E3-4355-AA4F-4DAFCB4B17B6}" type="datetimeFigureOut">
              <a:rPr lang="en-IN" smtClean="0"/>
              <a:t>25-07-2026</a:t>
            </a:fld>
            <a:endParaRPr lang="en-IN"/>
          </a:p>
        </p:txBody>
      </p:sp>
      <p:sp>
        <p:nvSpPr>
          <p:cNvPr id="5" name="Footer Placeholder 4">
            <a:extLst>
              <a:ext uri="{FF2B5EF4-FFF2-40B4-BE49-F238E27FC236}">
                <a16:creationId xmlns:a16="http://schemas.microsoft.com/office/drawing/2014/main" id="{360773E4-07D5-B0F8-A007-A1A022F15E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2849D0-39DF-5033-076D-C563A5B1A3ED}"/>
              </a:ext>
            </a:extLst>
          </p:cNvPr>
          <p:cNvSpPr>
            <a:spLocks noGrp="1"/>
          </p:cNvSpPr>
          <p:nvPr>
            <p:ph type="sldNum" sz="quarter" idx="12"/>
          </p:nvPr>
        </p:nvSpPr>
        <p:spPr/>
        <p:txBody>
          <a:bodyPr/>
          <a:lstStyle/>
          <a:p>
            <a:fld id="{3904EA88-286C-4026-845D-E9FEDA3E0A36}" type="slidenum">
              <a:rPr lang="en-IN" smtClean="0"/>
              <a:t>‹#›</a:t>
            </a:fld>
            <a:endParaRPr lang="en-IN"/>
          </a:p>
        </p:txBody>
      </p:sp>
    </p:spTree>
    <p:extLst>
      <p:ext uri="{BB962C8B-B14F-4D97-AF65-F5344CB8AC3E}">
        <p14:creationId xmlns:p14="http://schemas.microsoft.com/office/powerpoint/2010/main" val="3326920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C77750-61E5-5513-B432-7C47DE5F22F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C6DB9D4-A33E-649D-5FB7-9E8AD12419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AC64C9-D8B0-9129-2D33-26A7BB51F546}"/>
              </a:ext>
            </a:extLst>
          </p:cNvPr>
          <p:cNvSpPr>
            <a:spLocks noGrp="1"/>
          </p:cNvSpPr>
          <p:nvPr>
            <p:ph type="dt" sz="half" idx="10"/>
          </p:nvPr>
        </p:nvSpPr>
        <p:spPr/>
        <p:txBody>
          <a:bodyPr/>
          <a:lstStyle/>
          <a:p>
            <a:fld id="{C43CEFB2-B8E3-4355-AA4F-4DAFCB4B17B6}" type="datetimeFigureOut">
              <a:rPr lang="en-IN" smtClean="0"/>
              <a:t>25-07-2026</a:t>
            </a:fld>
            <a:endParaRPr lang="en-IN"/>
          </a:p>
        </p:txBody>
      </p:sp>
      <p:sp>
        <p:nvSpPr>
          <p:cNvPr id="5" name="Footer Placeholder 4">
            <a:extLst>
              <a:ext uri="{FF2B5EF4-FFF2-40B4-BE49-F238E27FC236}">
                <a16:creationId xmlns:a16="http://schemas.microsoft.com/office/drawing/2014/main" id="{602E5D6F-F015-75A0-2C48-BA44C99DC6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B72A96-6C32-9FF4-DFF7-0BAD2522574E}"/>
              </a:ext>
            </a:extLst>
          </p:cNvPr>
          <p:cNvSpPr>
            <a:spLocks noGrp="1"/>
          </p:cNvSpPr>
          <p:nvPr>
            <p:ph type="sldNum" sz="quarter" idx="12"/>
          </p:nvPr>
        </p:nvSpPr>
        <p:spPr/>
        <p:txBody>
          <a:bodyPr/>
          <a:lstStyle/>
          <a:p>
            <a:fld id="{3904EA88-286C-4026-845D-E9FEDA3E0A36}" type="slidenum">
              <a:rPr lang="en-IN" smtClean="0"/>
              <a:t>‹#›</a:t>
            </a:fld>
            <a:endParaRPr lang="en-IN"/>
          </a:p>
        </p:txBody>
      </p:sp>
    </p:spTree>
    <p:extLst>
      <p:ext uri="{BB962C8B-B14F-4D97-AF65-F5344CB8AC3E}">
        <p14:creationId xmlns:p14="http://schemas.microsoft.com/office/powerpoint/2010/main" val="460102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179018-741D-D2E7-1639-15F529A6DF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328A5A-3809-8FCA-1356-B26AB51031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651700-8EDA-2EDC-9FCE-B54B2763F5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3CEFB2-B8E3-4355-AA4F-4DAFCB4B17B6}" type="datetimeFigureOut">
              <a:rPr lang="en-IN" smtClean="0"/>
              <a:t>25-07-2026</a:t>
            </a:fld>
            <a:endParaRPr lang="en-IN"/>
          </a:p>
        </p:txBody>
      </p:sp>
      <p:sp>
        <p:nvSpPr>
          <p:cNvPr id="5" name="Footer Placeholder 4">
            <a:extLst>
              <a:ext uri="{FF2B5EF4-FFF2-40B4-BE49-F238E27FC236}">
                <a16:creationId xmlns:a16="http://schemas.microsoft.com/office/drawing/2014/main" id="{40C8D404-F7B3-7256-9214-9A2BABF3B1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AC0B65D-BB84-6463-8556-EDDA951F26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04EA88-286C-4026-845D-E9FEDA3E0A36}" type="slidenum">
              <a:rPr lang="en-IN" smtClean="0"/>
              <a:t>‹#›</a:t>
            </a:fld>
            <a:endParaRPr lang="en-IN"/>
          </a:p>
        </p:txBody>
      </p:sp>
    </p:spTree>
    <p:extLst>
      <p:ext uri="{BB962C8B-B14F-4D97-AF65-F5344CB8AC3E}">
        <p14:creationId xmlns:p14="http://schemas.microsoft.com/office/powerpoint/2010/main" val="15018376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F9F3D23-60F8-9119-2C80-BD0AA9B65A78}"/>
              </a:ext>
            </a:extLst>
          </p:cNvPr>
          <p:cNvSpPr/>
          <p:nvPr/>
        </p:nvSpPr>
        <p:spPr>
          <a:xfrm>
            <a:off x="76200" y="109571"/>
            <a:ext cx="12037142" cy="6611905"/>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092D174-251F-CDEB-5131-7677693E6B26}"/>
              </a:ext>
            </a:extLst>
          </p:cNvPr>
          <p:cNvSpPr>
            <a:spLocks noGrp="1"/>
          </p:cNvSpPr>
          <p:nvPr>
            <p:ph type="ctrTitle"/>
          </p:nvPr>
        </p:nvSpPr>
        <p:spPr>
          <a:xfrm>
            <a:off x="540774" y="1210854"/>
            <a:ext cx="11110452" cy="2843468"/>
          </a:xfrm>
        </p:spPr>
        <p:txBody>
          <a:bodyPr>
            <a:normAutofit/>
          </a:bodyPr>
          <a:lstStyle/>
          <a:p>
            <a:r>
              <a:rPr lang="en-US" sz="5400" b="1" i="1" dirty="0">
                <a:solidFill>
                  <a:schemeClr val="accent1">
                    <a:lumMod val="50000"/>
                  </a:schemeClr>
                </a:solidFill>
                <a:latin typeface="Times New Roman" panose="02020603050405020304" pitchFamily="18" charset="0"/>
                <a:cs typeface="Times New Roman" panose="02020603050405020304" pitchFamily="18" charset="0"/>
              </a:rPr>
              <a:t>AI Driven Sign Language Interpreter Using Deep Learning and Real-time Hand Gesture Recognition</a:t>
            </a:r>
            <a:endParaRPr lang="en-IN" sz="5400" b="1" i="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B7AA37C-FCDD-D4D0-8A9E-EE65F748D123}"/>
              </a:ext>
            </a:extLst>
          </p:cNvPr>
          <p:cNvSpPr>
            <a:spLocks noGrp="1"/>
          </p:cNvSpPr>
          <p:nvPr>
            <p:ph type="subTitle" idx="1"/>
          </p:nvPr>
        </p:nvSpPr>
        <p:spPr>
          <a:xfrm>
            <a:off x="1524000" y="4201805"/>
            <a:ext cx="9144000" cy="1655762"/>
          </a:xfrm>
        </p:spPr>
        <p:txBody>
          <a:bodyPr>
            <a:normAutofit/>
          </a:bodyPr>
          <a:lstStyle/>
          <a:p>
            <a:r>
              <a:rPr lang="en-US" sz="2000" dirty="0">
                <a:latin typeface="Times New Roman" panose="02020603050405020304" pitchFamily="18" charset="0"/>
                <a:cs typeface="Times New Roman" panose="02020603050405020304" pitchFamily="18" charset="0"/>
              </a:rPr>
              <a:t>MLA0408  -  Deep Learning</a:t>
            </a:r>
            <a:endParaRPr lang="en-IN" sz="2000" dirty="0">
              <a:latin typeface="Times New Roman" panose="02020603050405020304" pitchFamily="18" charset="0"/>
              <a:cs typeface="Times New Roman" panose="02020603050405020304" pitchFamily="18" charset="0"/>
            </a:endParaRPr>
          </a:p>
        </p:txBody>
      </p:sp>
      <p:pic>
        <p:nvPicPr>
          <p:cNvPr id="5" name="object 2">
            <a:extLst>
              <a:ext uri="{FF2B5EF4-FFF2-40B4-BE49-F238E27FC236}">
                <a16:creationId xmlns:a16="http://schemas.microsoft.com/office/drawing/2014/main" id="{5701C391-E917-4C10-EEFD-50B4F4768568}"/>
              </a:ext>
            </a:extLst>
          </p:cNvPr>
          <p:cNvPicPr/>
          <p:nvPr/>
        </p:nvPicPr>
        <p:blipFill>
          <a:blip r:embed="rId2" cstate="print"/>
          <a:stretch>
            <a:fillRect/>
          </a:stretch>
        </p:blipFill>
        <p:spPr>
          <a:xfrm>
            <a:off x="1579626" y="496776"/>
            <a:ext cx="9032748" cy="1251173"/>
          </a:xfrm>
          <a:prstGeom prst="rect">
            <a:avLst/>
          </a:prstGeom>
        </p:spPr>
      </p:pic>
      <p:sp>
        <p:nvSpPr>
          <p:cNvPr id="6" name="object 5">
            <a:extLst>
              <a:ext uri="{FF2B5EF4-FFF2-40B4-BE49-F238E27FC236}">
                <a16:creationId xmlns:a16="http://schemas.microsoft.com/office/drawing/2014/main" id="{4E9E433C-F47B-60DE-3578-144002A2596B}"/>
              </a:ext>
            </a:extLst>
          </p:cNvPr>
          <p:cNvSpPr txBox="1"/>
          <p:nvPr/>
        </p:nvSpPr>
        <p:spPr>
          <a:xfrm>
            <a:off x="8759885" y="4768400"/>
            <a:ext cx="3274799" cy="1274708"/>
          </a:xfrm>
          <a:prstGeom prst="rect">
            <a:avLst/>
          </a:prstGeom>
        </p:spPr>
        <p:txBody>
          <a:bodyPr vert="horz" wrap="square" lIns="0" tIns="12700" rIns="0" bIns="0" rtlCol="0">
            <a:spAutoFit/>
          </a:bodyPr>
          <a:lstStyle/>
          <a:p>
            <a:pPr marL="199390" marR="191135" indent="-635" algn="ctr">
              <a:lnSpc>
                <a:spcPct val="150000"/>
              </a:lnSpc>
              <a:spcBef>
                <a:spcPts val="100"/>
              </a:spcBef>
            </a:pPr>
            <a:r>
              <a:rPr sz="1800" b="1" dirty="0">
                <a:solidFill>
                  <a:srgbClr val="C00000"/>
                </a:solidFill>
                <a:latin typeface="Times New Roman"/>
                <a:cs typeface="Times New Roman"/>
              </a:rPr>
              <a:t>PRESENTED</a:t>
            </a:r>
            <a:r>
              <a:rPr sz="1800" b="1" spc="-45" dirty="0">
                <a:solidFill>
                  <a:srgbClr val="C00000"/>
                </a:solidFill>
                <a:latin typeface="Times New Roman"/>
                <a:cs typeface="Times New Roman"/>
              </a:rPr>
              <a:t> </a:t>
            </a:r>
            <a:r>
              <a:rPr sz="1800" b="1" spc="-25" dirty="0">
                <a:solidFill>
                  <a:srgbClr val="C00000"/>
                </a:solidFill>
                <a:latin typeface="Times New Roman"/>
                <a:cs typeface="Times New Roman"/>
              </a:rPr>
              <a:t>BY </a:t>
            </a:r>
            <a:endParaRPr lang="en-IN" b="1" spc="-10" dirty="0">
              <a:solidFill>
                <a:srgbClr val="C00000"/>
              </a:solidFill>
              <a:latin typeface="Times New Roman"/>
              <a:cs typeface="Times New Roman"/>
            </a:endParaRPr>
          </a:p>
          <a:p>
            <a:pPr marL="199390" marR="191135" indent="-635" algn="ctr">
              <a:lnSpc>
                <a:spcPct val="150000"/>
              </a:lnSpc>
              <a:spcBef>
                <a:spcPts val="100"/>
              </a:spcBef>
            </a:pPr>
            <a:r>
              <a:rPr lang="en-IN" sz="1800" spc="-10" dirty="0">
                <a:latin typeface="Times New Roman"/>
                <a:cs typeface="Times New Roman"/>
              </a:rPr>
              <a:t>Arya</a:t>
            </a:r>
            <a:r>
              <a:rPr lang="en-IN" spc="-10" dirty="0">
                <a:latin typeface="Times New Roman"/>
                <a:cs typeface="Times New Roman"/>
              </a:rPr>
              <a:t>. B. Nair </a:t>
            </a:r>
            <a:r>
              <a:rPr lang="en-IN" sz="1800" spc="-10" dirty="0">
                <a:latin typeface="Times New Roman"/>
                <a:cs typeface="Times New Roman"/>
              </a:rPr>
              <a:t>( 192424133 )</a:t>
            </a:r>
          </a:p>
          <a:p>
            <a:pPr algn="ctr">
              <a:lnSpc>
                <a:spcPct val="100000"/>
              </a:lnSpc>
              <a:spcBef>
                <a:spcPts val="1080"/>
              </a:spcBef>
            </a:pPr>
            <a:endParaRPr sz="1800" dirty="0">
              <a:latin typeface="Times New Roman"/>
              <a:cs typeface="Times New Roman"/>
            </a:endParaRPr>
          </a:p>
        </p:txBody>
      </p:sp>
      <p:sp>
        <p:nvSpPr>
          <p:cNvPr id="8" name="object 6">
            <a:extLst>
              <a:ext uri="{FF2B5EF4-FFF2-40B4-BE49-F238E27FC236}">
                <a16:creationId xmlns:a16="http://schemas.microsoft.com/office/drawing/2014/main" id="{4A4AF1B3-4B8D-2C7A-E928-4DDA6B754BBD}"/>
              </a:ext>
            </a:extLst>
          </p:cNvPr>
          <p:cNvSpPr txBox="1"/>
          <p:nvPr/>
        </p:nvSpPr>
        <p:spPr>
          <a:xfrm>
            <a:off x="699633" y="4768400"/>
            <a:ext cx="2387696" cy="871008"/>
          </a:xfrm>
          <a:prstGeom prst="rect">
            <a:avLst/>
          </a:prstGeom>
        </p:spPr>
        <p:txBody>
          <a:bodyPr vert="horz" wrap="square" lIns="0" tIns="182880" rIns="0" bIns="0" rtlCol="0">
            <a:spAutoFit/>
          </a:bodyPr>
          <a:lstStyle/>
          <a:p>
            <a:pPr marL="635" algn="ctr">
              <a:lnSpc>
                <a:spcPct val="100000"/>
              </a:lnSpc>
              <a:spcBef>
                <a:spcPts val="1440"/>
              </a:spcBef>
            </a:pPr>
            <a:r>
              <a:rPr sz="2000" b="1" dirty="0">
                <a:solidFill>
                  <a:srgbClr val="C00000"/>
                </a:solidFill>
                <a:latin typeface="Times New Roman"/>
                <a:cs typeface="Times New Roman"/>
              </a:rPr>
              <a:t>GUIDED</a:t>
            </a:r>
            <a:r>
              <a:rPr sz="2000" b="1" spc="-110" dirty="0">
                <a:solidFill>
                  <a:srgbClr val="C00000"/>
                </a:solidFill>
                <a:latin typeface="Times New Roman"/>
                <a:cs typeface="Times New Roman"/>
              </a:rPr>
              <a:t> </a:t>
            </a:r>
            <a:r>
              <a:rPr sz="2000" b="1" spc="-25" dirty="0">
                <a:solidFill>
                  <a:srgbClr val="C00000"/>
                </a:solidFill>
                <a:latin typeface="Times New Roman"/>
                <a:cs typeface="Times New Roman"/>
              </a:rPr>
              <a:t>BY</a:t>
            </a:r>
            <a:endParaRPr sz="2000" b="1" dirty="0">
              <a:solidFill>
                <a:srgbClr val="C00000"/>
              </a:solidFill>
              <a:latin typeface="Times New Roman"/>
              <a:cs typeface="Times New Roman"/>
            </a:endParaRPr>
          </a:p>
          <a:p>
            <a:pPr marL="12700" marR="5080" algn="ctr">
              <a:lnSpc>
                <a:spcPct val="150000"/>
              </a:lnSpc>
              <a:spcBef>
                <a:spcPts val="130"/>
              </a:spcBef>
            </a:pPr>
            <a:r>
              <a:rPr lang="en-US" sz="1800" spc="-50" dirty="0">
                <a:latin typeface="Times New Roman"/>
                <a:cs typeface="Times New Roman"/>
              </a:rPr>
              <a:t>Dr. D Sudhagar</a:t>
            </a:r>
            <a:r>
              <a:rPr lang="en-US" spc="-50" dirty="0">
                <a:latin typeface="Times New Roman"/>
                <a:cs typeface="Times New Roman"/>
              </a:rPr>
              <a:t> </a:t>
            </a:r>
            <a:endParaRPr lang="en-US" sz="1800" spc="-50" dirty="0">
              <a:latin typeface="Times New Roman"/>
              <a:cs typeface="Times New Roman"/>
            </a:endParaRPr>
          </a:p>
        </p:txBody>
      </p:sp>
    </p:spTree>
    <p:extLst>
      <p:ext uri="{BB962C8B-B14F-4D97-AF65-F5344CB8AC3E}">
        <p14:creationId xmlns:p14="http://schemas.microsoft.com/office/powerpoint/2010/main" val="2313110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61367-2366-0BE2-D98E-108EDD18166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BD3545E-4B89-F43B-A43B-CD99618DE0DB}"/>
              </a:ext>
            </a:extLst>
          </p:cNvPr>
          <p:cNvSpPr/>
          <p:nvPr/>
        </p:nvSpPr>
        <p:spPr>
          <a:xfrm>
            <a:off x="76200" y="109571"/>
            <a:ext cx="12037142" cy="6611905"/>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object 2">
            <a:extLst>
              <a:ext uri="{FF2B5EF4-FFF2-40B4-BE49-F238E27FC236}">
                <a16:creationId xmlns:a16="http://schemas.microsoft.com/office/drawing/2014/main" id="{71435239-B726-E7D3-7A40-68BFF055FE44}"/>
              </a:ext>
            </a:extLst>
          </p:cNvPr>
          <p:cNvPicPr/>
          <p:nvPr/>
        </p:nvPicPr>
        <p:blipFill>
          <a:blip r:embed="rId2" cstate="print"/>
          <a:stretch>
            <a:fillRect/>
          </a:stretch>
        </p:blipFill>
        <p:spPr>
          <a:xfrm>
            <a:off x="509607" y="368131"/>
            <a:ext cx="1156021" cy="1262483"/>
          </a:xfrm>
          <a:prstGeom prst="rect">
            <a:avLst/>
          </a:prstGeom>
        </p:spPr>
      </p:pic>
      <p:pic>
        <p:nvPicPr>
          <p:cNvPr id="3" name="object 3">
            <a:extLst>
              <a:ext uri="{FF2B5EF4-FFF2-40B4-BE49-F238E27FC236}">
                <a16:creationId xmlns:a16="http://schemas.microsoft.com/office/drawing/2014/main" id="{DBCD6237-FBDD-65DE-0C8B-4B4EEE44234F}"/>
              </a:ext>
            </a:extLst>
          </p:cNvPr>
          <p:cNvPicPr/>
          <p:nvPr/>
        </p:nvPicPr>
        <p:blipFill>
          <a:blip r:embed="rId3" cstate="print"/>
          <a:stretch>
            <a:fillRect/>
          </a:stretch>
        </p:blipFill>
        <p:spPr>
          <a:xfrm>
            <a:off x="10446044" y="442123"/>
            <a:ext cx="1236349" cy="1114501"/>
          </a:xfrm>
          <a:prstGeom prst="rect">
            <a:avLst/>
          </a:prstGeom>
        </p:spPr>
      </p:pic>
      <p:sp>
        <p:nvSpPr>
          <p:cNvPr id="5" name="object 5">
            <a:extLst>
              <a:ext uri="{FF2B5EF4-FFF2-40B4-BE49-F238E27FC236}">
                <a16:creationId xmlns:a16="http://schemas.microsoft.com/office/drawing/2014/main" id="{6D037CA9-19CF-EAFF-B968-4A4034B26CC8}"/>
              </a:ext>
            </a:extLst>
          </p:cNvPr>
          <p:cNvSpPr txBox="1"/>
          <p:nvPr/>
        </p:nvSpPr>
        <p:spPr>
          <a:xfrm>
            <a:off x="838200" y="1889173"/>
            <a:ext cx="10515600" cy="4145366"/>
          </a:xfrm>
          <a:prstGeom prst="rect">
            <a:avLst/>
          </a:prstGeom>
        </p:spPr>
        <p:txBody>
          <a:bodyPr vert="horz" wrap="square" lIns="0" tIns="92075" rIns="0" bIns="0" rtlCol="0">
            <a:spAutoFit/>
          </a:bodyPr>
          <a:lstStyle/>
          <a:p>
            <a:pPr marL="355600" indent="-3429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Communication between hearing-impaired individuals and people who do not understand sign language remains a significant challenge in everyday life. Existing communication methods often require human interpreters or specialized devices, limiting accessibility and convenience.</a:t>
            </a:r>
          </a:p>
          <a:p>
            <a:pPr marL="355600" indent="-342900" algn="just">
              <a:lnSpc>
                <a:spcPct val="100000"/>
              </a:lnSpc>
              <a:spcBef>
                <a:spcPts val="725"/>
              </a:spcBef>
              <a:buFont typeface="Wingdings" panose="05000000000000000000" pitchFamily="2" charset="2"/>
              <a:buChar char="Ø"/>
              <a:tabLst>
                <a:tab pos="309245" algn="l"/>
              </a:tabLst>
            </a:pPr>
            <a:endParaRPr lang="en-IN" sz="2000" b="1" spc="-10" dirty="0">
              <a:latin typeface="Times New Roman" panose="02020603050405020304" pitchFamily="18" charset="0"/>
              <a:cs typeface="Times New Roman" panose="02020603050405020304" pitchFamily="18" charset="0"/>
            </a:endParaRPr>
          </a:p>
          <a:p>
            <a:pPr marL="355600" indent="-3429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The proposed </a:t>
            </a:r>
            <a:r>
              <a:rPr lang="en-IN" sz="2000" b="1" dirty="0">
                <a:latin typeface="Times New Roman" panose="02020603050405020304" pitchFamily="18" charset="0"/>
                <a:cs typeface="Times New Roman" panose="02020603050405020304" pitchFamily="18" charset="0"/>
              </a:rPr>
              <a:t>AI Sign Language Translator</a:t>
            </a:r>
            <a:r>
              <a:rPr lang="en-IN" sz="2000" dirty="0">
                <a:latin typeface="Times New Roman" panose="02020603050405020304" pitchFamily="18" charset="0"/>
                <a:cs typeface="Times New Roman" panose="02020603050405020304" pitchFamily="18" charset="0"/>
              </a:rPr>
              <a:t> utilizes </a:t>
            </a:r>
            <a:r>
              <a:rPr lang="en-IN" sz="2000" b="1" dirty="0">
                <a:latin typeface="Times New Roman" panose="02020603050405020304" pitchFamily="18" charset="0"/>
                <a:cs typeface="Times New Roman" panose="02020603050405020304" pitchFamily="18" charset="0"/>
              </a:rPr>
              <a:t>deep learning</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computer vision</a:t>
            </a:r>
            <a:r>
              <a:rPr lang="en-IN" sz="2000" dirty="0">
                <a:latin typeface="Times New Roman" panose="02020603050405020304" pitchFamily="18" charset="0"/>
                <a:cs typeface="Times New Roman" panose="02020603050405020304" pitchFamily="18" charset="0"/>
              </a:rPr>
              <a:t> to recognize hand gestures captured through a standard webcam and translate them into readable text and optional speech output in real time.</a:t>
            </a:r>
          </a:p>
          <a:p>
            <a:pPr marL="355600" indent="-342900" algn="just">
              <a:lnSpc>
                <a:spcPct val="100000"/>
              </a:lnSpc>
              <a:spcBef>
                <a:spcPts val="725"/>
              </a:spcBef>
              <a:buFont typeface="Wingdings" panose="05000000000000000000" pitchFamily="2" charset="2"/>
              <a:buChar char="Ø"/>
              <a:tabLst>
                <a:tab pos="309245" algn="l"/>
              </a:tabLst>
            </a:pPr>
            <a:endParaRPr lang="en-IN" sz="2000" b="1" spc="-10" dirty="0">
              <a:latin typeface="Times New Roman" panose="02020603050405020304" pitchFamily="18" charset="0"/>
              <a:cs typeface="Times New Roman" panose="02020603050405020304" pitchFamily="18" charset="0"/>
            </a:endParaRPr>
          </a:p>
          <a:p>
            <a:pPr marL="355600" indent="-3429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By combining real-time hand detection, gesture recognition, and intelligent translation, the system provides an accessible, non-intrusive, and user-friendly solution that enables smoother communication between sign language users and the general public without requiring expensive hardware or wearable devices.</a:t>
            </a:r>
            <a:endParaRPr lang="en-IN" sz="2000" b="1" spc="-10" dirty="0">
              <a:latin typeface="Times New Roman" panose="02020603050405020304" pitchFamily="18" charset="0"/>
              <a:cs typeface="Times New Roman" panose="02020603050405020304" pitchFamily="18" charset="0"/>
            </a:endParaRPr>
          </a:p>
        </p:txBody>
      </p:sp>
      <p:sp>
        <p:nvSpPr>
          <p:cNvPr id="9" name="Title 8">
            <a:extLst>
              <a:ext uri="{FF2B5EF4-FFF2-40B4-BE49-F238E27FC236}">
                <a16:creationId xmlns:a16="http://schemas.microsoft.com/office/drawing/2014/main" id="{06986A36-645C-C628-5E1F-EFD558CF409E}"/>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7235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60155-FCB8-442A-EC09-BDBEA56F19A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C7AC065-6F70-F092-5E55-F90A3272C4F8}"/>
              </a:ext>
            </a:extLst>
          </p:cNvPr>
          <p:cNvSpPr/>
          <p:nvPr/>
        </p:nvSpPr>
        <p:spPr>
          <a:xfrm>
            <a:off x="76200" y="109571"/>
            <a:ext cx="12037142" cy="6611905"/>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object 2">
            <a:extLst>
              <a:ext uri="{FF2B5EF4-FFF2-40B4-BE49-F238E27FC236}">
                <a16:creationId xmlns:a16="http://schemas.microsoft.com/office/drawing/2014/main" id="{B216DB97-2E54-1D40-8602-361F869DD9B1}"/>
              </a:ext>
            </a:extLst>
          </p:cNvPr>
          <p:cNvPicPr/>
          <p:nvPr/>
        </p:nvPicPr>
        <p:blipFill>
          <a:blip r:embed="rId2" cstate="print"/>
          <a:stretch>
            <a:fillRect/>
          </a:stretch>
        </p:blipFill>
        <p:spPr>
          <a:xfrm>
            <a:off x="509607" y="368131"/>
            <a:ext cx="1156021" cy="1262483"/>
          </a:xfrm>
          <a:prstGeom prst="rect">
            <a:avLst/>
          </a:prstGeom>
        </p:spPr>
      </p:pic>
      <p:pic>
        <p:nvPicPr>
          <p:cNvPr id="3" name="object 3">
            <a:extLst>
              <a:ext uri="{FF2B5EF4-FFF2-40B4-BE49-F238E27FC236}">
                <a16:creationId xmlns:a16="http://schemas.microsoft.com/office/drawing/2014/main" id="{A0D6990B-4DDD-D060-FB7D-7EDE11245ED9}"/>
              </a:ext>
            </a:extLst>
          </p:cNvPr>
          <p:cNvPicPr/>
          <p:nvPr/>
        </p:nvPicPr>
        <p:blipFill>
          <a:blip r:embed="rId3" cstate="print"/>
          <a:stretch>
            <a:fillRect/>
          </a:stretch>
        </p:blipFill>
        <p:spPr>
          <a:xfrm>
            <a:off x="10446044" y="442123"/>
            <a:ext cx="1236349" cy="1114501"/>
          </a:xfrm>
          <a:prstGeom prst="rect">
            <a:avLst/>
          </a:prstGeom>
        </p:spPr>
      </p:pic>
      <p:sp>
        <p:nvSpPr>
          <p:cNvPr id="5" name="object 5">
            <a:extLst>
              <a:ext uri="{FF2B5EF4-FFF2-40B4-BE49-F238E27FC236}">
                <a16:creationId xmlns:a16="http://schemas.microsoft.com/office/drawing/2014/main" id="{4785EA43-2DD0-2D62-3DBE-CEFAD1B419BB}"/>
              </a:ext>
            </a:extLst>
          </p:cNvPr>
          <p:cNvSpPr txBox="1"/>
          <p:nvPr/>
        </p:nvSpPr>
        <p:spPr>
          <a:xfrm>
            <a:off x="838199" y="1889173"/>
            <a:ext cx="11009671" cy="4383892"/>
          </a:xfrm>
          <a:prstGeom prst="rect">
            <a:avLst/>
          </a:prstGeom>
        </p:spPr>
        <p:txBody>
          <a:bodyPr vert="horz" wrap="square" lIns="0" tIns="92075" rIns="0" bIns="0" rtlCol="0">
            <a:spAutoFit/>
          </a:bodyPr>
          <a:lstStyle/>
          <a:p>
            <a:pPr marL="355600" indent="-342900" algn="just">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Sign language is one of the primary means of communication for individuals with hearing or speech impairments. However, many people are unable to understand sign language, creating communication barriers in educational institutions, workplaces, hospitals, and public services.</a:t>
            </a:r>
          </a:p>
          <a:p>
            <a:pPr marL="355600" indent="-3429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AI Sign Language Translator</a:t>
            </a:r>
            <a:r>
              <a:rPr lang="en-IN" sz="2000" dirty="0">
                <a:latin typeface="Times New Roman" panose="02020603050405020304" pitchFamily="18" charset="0"/>
                <a:cs typeface="Times New Roman" panose="02020603050405020304" pitchFamily="18" charset="0"/>
              </a:rPr>
              <a:t> leverages </a:t>
            </a:r>
            <a:r>
              <a:rPr lang="en-IN" sz="2000" b="1" dirty="0">
                <a:latin typeface="Times New Roman" panose="02020603050405020304" pitchFamily="18" charset="0"/>
                <a:cs typeface="Times New Roman" panose="02020603050405020304" pitchFamily="18" charset="0"/>
              </a:rPr>
              <a:t>deep learning</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computer vision</a:t>
            </a:r>
            <a:r>
              <a:rPr lang="en-IN" sz="2000" dirty="0">
                <a:latin typeface="Times New Roman" panose="02020603050405020304" pitchFamily="18" charset="0"/>
                <a:cs typeface="Times New Roman" panose="02020603050405020304" pitchFamily="18" charset="0"/>
              </a:rPr>
              <a:t> to recognize hand gestures through a standard webcam and instantly convert them into readable text and optional speech output.</a:t>
            </a:r>
          </a:p>
          <a:p>
            <a:pPr marL="12700" algn="just">
              <a:lnSpc>
                <a:spcPct val="100000"/>
              </a:lnSpc>
              <a:spcBef>
                <a:spcPts val="725"/>
              </a:spcBef>
              <a:tabLst>
                <a:tab pos="309245" algn="l"/>
              </a:tabLst>
            </a:pPr>
            <a:r>
              <a:rPr lang="en-IN" sz="2000" dirty="0">
                <a:latin typeface="Times New Roman" panose="02020603050405020304" pitchFamily="18" charset="0"/>
                <a:cs typeface="Times New Roman" panose="02020603050405020304" pitchFamily="18" charset="0"/>
              </a:rPr>
              <a:t>Importances:</a:t>
            </a:r>
          </a:p>
          <a:p>
            <a:pPr marL="355600" indent="-3429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This system:</a:t>
            </a:r>
          </a:p>
          <a:p>
            <a:pPr marL="812800" lvl="1" indent="-342900" algn="just">
              <a:spcBef>
                <a:spcPts val="725"/>
              </a:spcBef>
              <a:buFont typeface="Arial" panose="020B0604020202020204" pitchFamily="34" charset="0"/>
              <a:buChar char="•"/>
              <a:tabLst>
                <a:tab pos="309245" algn="l"/>
              </a:tabLst>
            </a:pPr>
            <a:r>
              <a:rPr lang="en-IN" sz="2000" dirty="0">
                <a:latin typeface="Times New Roman" panose="02020603050405020304" pitchFamily="18" charset="0"/>
                <a:cs typeface="Times New Roman" panose="02020603050405020304" pitchFamily="18" charset="0"/>
              </a:rPr>
              <a:t>Enables real-time communication between sign language users and non-signers.</a:t>
            </a:r>
          </a:p>
          <a:p>
            <a:pPr marL="812800" lvl="1" indent="-342900" algn="just">
              <a:spcBef>
                <a:spcPts val="725"/>
              </a:spcBef>
              <a:buFont typeface="Arial" panose="020B0604020202020204" pitchFamily="34" charset="0"/>
              <a:buChar char="•"/>
              <a:tabLst>
                <a:tab pos="309245" algn="l"/>
              </a:tabLst>
            </a:pPr>
            <a:r>
              <a:rPr lang="en-IN" sz="2000" dirty="0">
                <a:latin typeface="Times New Roman" panose="02020603050405020304" pitchFamily="18" charset="0"/>
                <a:cs typeface="Times New Roman" panose="02020603050405020304" pitchFamily="18" charset="0"/>
              </a:rPr>
              <a:t>Eliminates the need for a human interpreter in many day-to-day situations. </a:t>
            </a:r>
          </a:p>
          <a:p>
            <a:pPr marL="812800" lvl="1" indent="-342900" algn="just">
              <a:spcBef>
                <a:spcPts val="725"/>
              </a:spcBef>
              <a:buFont typeface="Arial" panose="020B0604020202020204" pitchFamily="34" charset="0"/>
              <a:buChar char="•"/>
              <a:tabLst>
                <a:tab pos="309245" algn="l"/>
              </a:tabLst>
            </a:pPr>
            <a:r>
              <a:rPr lang="en-IN" sz="2000" dirty="0">
                <a:latin typeface="Times New Roman" panose="02020603050405020304" pitchFamily="18" charset="0"/>
                <a:cs typeface="Times New Roman" panose="02020603050405020304" pitchFamily="18" charset="0"/>
              </a:rPr>
              <a:t>Utilizes deep learning models for accurate gesture recognition.</a:t>
            </a:r>
          </a:p>
          <a:p>
            <a:pPr marL="812800" lvl="1" indent="-342900" algn="just">
              <a:spcBef>
                <a:spcPts val="725"/>
              </a:spcBef>
              <a:buFont typeface="Arial" panose="020B0604020202020204" pitchFamily="34" charset="0"/>
              <a:buChar char="•"/>
              <a:tabLst>
                <a:tab pos="309245" algn="l"/>
              </a:tabLst>
            </a:pPr>
            <a:r>
              <a:rPr lang="en-IN" sz="2000" dirty="0">
                <a:latin typeface="Times New Roman" panose="02020603050405020304" pitchFamily="18" charset="0"/>
                <a:cs typeface="Times New Roman" panose="02020603050405020304" pitchFamily="18" charset="0"/>
              </a:rPr>
              <a:t>Provides an affordable, contactless, and user-friendly communication solution.</a:t>
            </a:r>
            <a:endParaRPr lang="en-IN" sz="2000" b="1" spc="-10" dirty="0">
              <a:latin typeface="Times New Roman" panose="02020603050405020304" pitchFamily="18" charset="0"/>
              <a:cs typeface="Times New Roman" panose="02020603050405020304" pitchFamily="18" charset="0"/>
            </a:endParaRPr>
          </a:p>
        </p:txBody>
      </p:sp>
      <p:sp>
        <p:nvSpPr>
          <p:cNvPr id="9" name="Title 8">
            <a:extLst>
              <a:ext uri="{FF2B5EF4-FFF2-40B4-BE49-F238E27FC236}">
                <a16:creationId xmlns:a16="http://schemas.microsoft.com/office/drawing/2014/main" id="{2A455D3B-192E-EF8E-91F2-8B0D67B8519E}"/>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2686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32EA0-13AA-415B-E260-6ADF6C41335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F270B0C-96FD-14BF-5B5D-4B49C4617549}"/>
              </a:ext>
            </a:extLst>
          </p:cNvPr>
          <p:cNvSpPr/>
          <p:nvPr/>
        </p:nvSpPr>
        <p:spPr>
          <a:xfrm>
            <a:off x="76200" y="109571"/>
            <a:ext cx="12037142" cy="6611905"/>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object 2">
            <a:extLst>
              <a:ext uri="{FF2B5EF4-FFF2-40B4-BE49-F238E27FC236}">
                <a16:creationId xmlns:a16="http://schemas.microsoft.com/office/drawing/2014/main" id="{87B4CF71-7741-5B27-BCA6-813D218E6C1F}"/>
              </a:ext>
            </a:extLst>
          </p:cNvPr>
          <p:cNvPicPr/>
          <p:nvPr/>
        </p:nvPicPr>
        <p:blipFill>
          <a:blip r:embed="rId2" cstate="print"/>
          <a:stretch>
            <a:fillRect/>
          </a:stretch>
        </p:blipFill>
        <p:spPr>
          <a:xfrm>
            <a:off x="509607" y="368131"/>
            <a:ext cx="1156021" cy="1262483"/>
          </a:xfrm>
          <a:prstGeom prst="rect">
            <a:avLst/>
          </a:prstGeom>
        </p:spPr>
      </p:pic>
      <p:pic>
        <p:nvPicPr>
          <p:cNvPr id="3" name="object 3">
            <a:extLst>
              <a:ext uri="{FF2B5EF4-FFF2-40B4-BE49-F238E27FC236}">
                <a16:creationId xmlns:a16="http://schemas.microsoft.com/office/drawing/2014/main" id="{5105E584-F567-D259-A1DE-0E9307B216F2}"/>
              </a:ext>
            </a:extLst>
          </p:cNvPr>
          <p:cNvPicPr/>
          <p:nvPr/>
        </p:nvPicPr>
        <p:blipFill>
          <a:blip r:embed="rId3" cstate="print"/>
          <a:stretch>
            <a:fillRect/>
          </a:stretch>
        </p:blipFill>
        <p:spPr>
          <a:xfrm>
            <a:off x="10446044" y="442123"/>
            <a:ext cx="1236349" cy="1114501"/>
          </a:xfrm>
          <a:prstGeom prst="rect">
            <a:avLst/>
          </a:prstGeom>
        </p:spPr>
      </p:pic>
      <p:sp>
        <p:nvSpPr>
          <p:cNvPr id="5" name="object 5">
            <a:extLst>
              <a:ext uri="{FF2B5EF4-FFF2-40B4-BE49-F238E27FC236}">
                <a16:creationId xmlns:a16="http://schemas.microsoft.com/office/drawing/2014/main" id="{7B8AAD8D-5A2B-0049-951D-81A35EEEDDD5}"/>
              </a:ext>
            </a:extLst>
          </p:cNvPr>
          <p:cNvSpPr txBox="1"/>
          <p:nvPr/>
        </p:nvSpPr>
        <p:spPr>
          <a:xfrm>
            <a:off x="838200" y="1814821"/>
            <a:ext cx="10931013" cy="4722447"/>
          </a:xfrm>
          <a:prstGeom prst="rect">
            <a:avLst/>
          </a:prstGeom>
        </p:spPr>
        <p:txBody>
          <a:bodyPr vert="horz" wrap="square" lIns="0" tIns="92075" rIns="0" bIns="0" rtlCol="0">
            <a:spAutoFit/>
          </a:bodyPr>
          <a:lstStyle/>
          <a:p>
            <a:pPr marL="12700" algn="just">
              <a:lnSpc>
                <a:spcPct val="100000"/>
              </a:lnSpc>
              <a:spcBef>
                <a:spcPts val="725"/>
              </a:spcBef>
              <a:tabLst>
                <a:tab pos="309245" algn="l"/>
              </a:tabLst>
            </a:pPr>
            <a:r>
              <a:rPr lang="en-IN" sz="2000" b="1" dirty="0">
                <a:latin typeface="Times New Roman" panose="02020603050405020304" pitchFamily="18" charset="0"/>
                <a:cs typeface="Times New Roman" panose="02020603050405020304" pitchFamily="18" charset="0"/>
              </a:rPr>
              <a:t>PROBLEM STATEMENT</a:t>
            </a:r>
          </a:p>
          <a:p>
            <a:pPr marL="355600" indent="-3429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Communication between hearing-impaired individuals and people who do not understand sign language remains a major challenge in daily life. Existing solutions often depend on human interpreters, specialized hardware, or limited mobile applications, which may not always be accessible or available.</a:t>
            </a:r>
          </a:p>
          <a:p>
            <a:pPr marL="355600" indent="-342900" algn="just">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There is a need for an affordable, accurate, and real-time system that can recognize sign language gestures and translate them into text and speech, enabling seamless communication in various real-world environments.</a:t>
            </a:r>
          </a:p>
          <a:p>
            <a:pPr marL="12700" algn="just">
              <a:lnSpc>
                <a:spcPct val="100000"/>
              </a:lnSpc>
              <a:spcBef>
                <a:spcPts val="725"/>
              </a:spcBef>
              <a:tabLst>
                <a:tab pos="309245" algn="l"/>
              </a:tabLst>
            </a:pPr>
            <a:r>
              <a:rPr lang="en-IN" sz="2000" b="1" dirty="0">
                <a:latin typeface="Times New Roman" panose="02020603050405020304" pitchFamily="18" charset="0"/>
                <a:cs typeface="Times New Roman" panose="02020603050405020304" pitchFamily="18" charset="0"/>
              </a:rPr>
              <a:t>OBJECTIVES</a:t>
            </a:r>
          </a:p>
          <a:p>
            <a:pPr marL="355600" indent="-3429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To capture sign language gestures in real time using computer vision.</a:t>
            </a:r>
          </a:p>
          <a:p>
            <a:pPr marL="355600" indent="-3429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To recognize hand gestures accurately using a deep learning model.</a:t>
            </a:r>
          </a:p>
          <a:p>
            <a:pPr marL="355600" indent="-3429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To translate recognized signs into readable text and optional speech output.</a:t>
            </a:r>
          </a:p>
          <a:p>
            <a:pPr marL="355600" indent="-3429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To provide an accessible and user-friendly communication system without requiring specialized equipment.</a:t>
            </a:r>
            <a:endParaRPr lang="en-IN" sz="2000" b="1" spc="-10" dirty="0">
              <a:latin typeface="Times New Roman" panose="02020603050405020304" pitchFamily="18" charset="0"/>
              <a:cs typeface="Times New Roman" panose="02020603050405020304" pitchFamily="18" charset="0"/>
            </a:endParaRPr>
          </a:p>
        </p:txBody>
      </p:sp>
      <p:sp>
        <p:nvSpPr>
          <p:cNvPr id="9" name="Title 8">
            <a:extLst>
              <a:ext uri="{FF2B5EF4-FFF2-40B4-BE49-F238E27FC236}">
                <a16:creationId xmlns:a16="http://schemas.microsoft.com/office/drawing/2014/main" id="{5540DBA5-DAAA-9B9C-87CF-CD4E83C9478A}"/>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PROBLEM STATEMENTS &amp;</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OBJECTIVES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0332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3F47C-4DB9-9751-A94F-F8BA32DBD8C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E9105012-BC32-CA7B-9A07-A525C8F172E7}"/>
              </a:ext>
            </a:extLst>
          </p:cNvPr>
          <p:cNvSpPr/>
          <p:nvPr/>
        </p:nvSpPr>
        <p:spPr>
          <a:xfrm>
            <a:off x="76200" y="109571"/>
            <a:ext cx="12037142" cy="6611905"/>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object 2">
            <a:extLst>
              <a:ext uri="{FF2B5EF4-FFF2-40B4-BE49-F238E27FC236}">
                <a16:creationId xmlns:a16="http://schemas.microsoft.com/office/drawing/2014/main" id="{9A3D3C7C-F0C2-2806-D611-FF476DAE659F}"/>
              </a:ext>
            </a:extLst>
          </p:cNvPr>
          <p:cNvPicPr/>
          <p:nvPr/>
        </p:nvPicPr>
        <p:blipFill>
          <a:blip r:embed="rId2" cstate="print"/>
          <a:stretch>
            <a:fillRect/>
          </a:stretch>
        </p:blipFill>
        <p:spPr>
          <a:xfrm>
            <a:off x="509607" y="368131"/>
            <a:ext cx="1156021" cy="1262483"/>
          </a:xfrm>
          <a:prstGeom prst="rect">
            <a:avLst/>
          </a:prstGeom>
        </p:spPr>
      </p:pic>
      <p:pic>
        <p:nvPicPr>
          <p:cNvPr id="3" name="object 3">
            <a:extLst>
              <a:ext uri="{FF2B5EF4-FFF2-40B4-BE49-F238E27FC236}">
                <a16:creationId xmlns:a16="http://schemas.microsoft.com/office/drawing/2014/main" id="{1F8B0396-99A2-E197-A690-9C6DC6B79022}"/>
              </a:ext>
            </a:extLst>
          </p:cNvPr>
          <p:cNvPicPr/>
          <p:nvPr/>
        </p:nvPicPr>
        <p:blipFill>
          <a:blip r:embed="rId3" cstate="print"/>
          <a:stretch>
            <a:fillRect/>
          </a:stretch>
        </p:blipFill>
        <p:spPr>
          <a:xfrm>
            <a:off x="10446044" y="442123"/>
            <a:ext cx="1236349" cy="1114501"/>
          </a:xfrm>
          <a:prstGeom prst="rect">
            <a:avLst/>
          </a:prstGeom>
        </p:spPr>
      </p:pic>
      <p:sp>
        <p:nvSpPr>
          <p:cNvPr id="9" name="Title 8">
            <a:extLst>
              <a:ext uri="{FF2B5EF4-FFF2-40B4-BE49-F238E27FC236}">
                <a16:creationId xmlns:a16="http://schemas.microsoft.com/office/drawing/2014/main" id="{3200F6C4-D3BD-F5D8-F533-D6179D0D1A59}"/>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BA554BAE-539A-DEF8-15BE-EEB63EF01D83}"/>
              </a:ext>
            </a:extLst>
          </p:cNvPr>
          <p:cNvGraphicFramePr>
            <a:graphicFrameLocks noGrp="1"/>
          </p:cNvGraphicFramePr>
          <p:nvPr>
            <p:extLst>
              <p:ext uri="{D42A27DB-BD31-4B8C-83A1-F6EECF244321}">
                <p14:modId xmlns:p14="http://schemas.microsoft.com/office/powerpoint/2010/main" val="3559263238"/>
              </p:ext>
            </p:extLst>
          </p:nvPr>
        </p:nvGraphicFramePr>
        <p:xfrm>
          <a:off x="415413" y="1690687"/>
          <a:ext cx="11452122" cy="4837906"/>
        </p:xfrm>
        <a:graphic>
          <a:graphicData uri="http://schemas.openxmlformats.org/drawingml/2006/table">
            <a:tbl>
              <a:tblPr firstRow="1" bandRow="1">
                <a:tableStyleId>{5C22544A-7EE6-4342-B048-85BDC9FD1C3A}</a:tableStyleId>
              </a:tblPr>
              <a:tblGrid>
                <a:gridCol w="1000892">
                  <a:extLst>
                    <a:ext uri="{9D8B030D-6E8A-4147-A177-3AD203B41FA5}">
                      <a16:colId xmlns:a16="http://schemas.microsoft.com/office/drawing/2014/main" val="2471459981"/>
                    </a:ext>
                  </a:extLst>
                </a:gridCol>
                <a:gridCol w="2816481">
                  <a:extLst>
                    <a:ext uri="{9D8B030D-6E8A-4147-A177-3AD203B41FA5}">
                      <a16:colId xmlns:a16="http://schemas.microsoft.com/office/drawing/2014/main" val="2909588718"/>
                    </a:ext>
                  </a:extLst>
                </a:gridCol>
                <a:gridCol w="1692853">
                  <a:extLst>
                    <a:ext uri="{9D8B030D-6E8A-4147-A177-3AD203B41FA5}">
                      <a16:colId xmlns:a16="http://schemas.microsoft.com/office/drawing/2014/main" val="3126007387"/>
                    </a:ext>
                  </a:extLst>
                </a:gridCol>
                <a:gridCol w="2155344">
                  <a:extLst>
                    <a:ext uri="{9D8B030D-6E8A-4147-A177-3AD203B41FA5}">
                      <a16:colId xmlns:a16="http://schemas.microsoft.com/office/drawing/2014/main" val="1702471576"/>
                    </a:ext>
                  </a:extLst>
                </a:gridCol>
                <a:gridCol w="1877864">
                  <a:extLst>
                    <a:ext uri="{9D8B030D-6E8A-4147-A177-3AD203B41FA5}">
                      <a16:colId xmlns:a16="http://schemas.microsoft.com/office/drawing/2014/main" val="4149612508"/>
                    </a:ext>
                  </a:extLst>
                </a:gridCol>
                <a:gridCol w="1908688">
                  <a:extLst>
                    <a:ext uri="{9D8B030D-6E8A-4147-A177-3AD203B41FA5}">
                      <a16:colId xmlns:a16="http://schemas.microsoft.com/office/drawing/2014/main" val="1662986554"/>
                    </a:ext>
                  </a:extLst>
                </a:gridCol>
              </a:tblGrid>
              <a:tr h="437928">
                <a:tc>
                  <a:txBody>
                    <a:bodyPr/>
                    <a:lstStyle/>
                    <a:p>
                      <a:pPr>
                        <a:buNone/>
                      </a:pPr>
                      <a:r>
                        <a:rPr lang="en-IN" sz="1400" b="1">
                          <a:latin typeface="Times New Roman" panose="02020603050405020304" pitchFamily="18" charset="0"/>
                          <a:cs typeface="Times New Roman" panose="02020603050405020304" pitchFamily="18" charset="0"/>
                        </a:rPr>
                        <a:t>S. No</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a:latin typeface="Times New Roman" panose="02020603050405020304" pitchFamily="18" charset="0"/>
                          <a:cs typeface="Times New Roman" panose="02020603050405020304" pitchFamily="18" charset="0"/>
                        </a:rPr>
                        <a:t>Research Paper</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a:latin typeface="Times New Roman" panose="02020603050405020304" pitchFamily="18" charset="0"/>
                          <a:cs typeface="Times New Roman" panose="02020603050405020304" pitchFamily="18" charset="0"/>
                        </a:rPr>
                        <a:t>Author &amp; Year</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a:latin typeface="Times New Roman" panose="02020603050405020304" pitchFamily="18" charset="0"/>
                          <a:cs typeface="Times New Roman" panose="02020603050405020304" pitchFamily="18" charset="0"/>
                        </a:rPr>
                        <a:t>Advantages</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a:latin typeface="Times New Roman" panose="02020603050405020304" pitchFamily="18" charset="0"/>
                          <a:cs typeface="Times New Roman" panose="02020603050405020304" pitchFamily="18" charset="0"/>
                        </a:rPr>
                        <a:t>Disadvantages</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a:latin typeface="Times New Roman" panose="02020603050405020304" pitchFamily="18" charset="0"/>
                          <a:cs typeface="Times New Roman" panose="02020603050405020304" pitchFamily="18" charset="0"/>
                        </a:rPr>
                        <a:t>Technologies Used</a:t>
                      </a:r>
                      <a:endParaRPr lang="en-IN" sz="1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81309254"/>
                  </a:ext>
                </a:extLst>
              </a:tr>
              <a:tr h="810676">
                <a:tc>
                  <a:txBody>
                    <a:bodyPr/>
                    <a:lstStyle/>
                    <a:p>
                      <a:pPr>
                        <a:buNone/>
                      </a:pPr>
                      <a:r>
                        <a:rPr lang="en-IN" sz="1400" b="1">
                          <a:latin typeface="Times New Roman" panose="02020603050405020304" pitchFamily="18" charset="0"/>
                          <a:cs typeface="Times New Roman" panose="02020603050405020304" pitchFamily="18" charset="0"/>
                        </a:rPr>
                        <a:t>1</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latin typeface="Times New Roman" panose="02020603050405020304" pitchFamily="18" charset="0"/>
                          <a:cs typeface="Times New Roman" panose="02020603050405020304" pitchFamily="18" charset="0"/>
                        </a:rPr>
                        <a:t>Real-Time Sign Language Recognition Using Deep Learning</a:t>
                      </a:r>
                    </a:p>
                  </a:txBody>
                  <a:tcPr anchor="ctr"/>
                </a:tc>
                <a:tc>
                  <a:txBody>
                    <a:bodyPr/>
                    <a:lstStyle/>
                    <a:p>
                      <a:pPr>
                        <a:buNone/>
                      </a:pPr>
                      <a:r>
                        <a:rPr lang="en-IN" sz="1400">
                          <a:latin typeface="Times New Roman" panose="02020603050405020304" pitchFamily="18" charset="0"/>
                          <a:cs typeface="Times New Roman" panose="02020603050405020304" pitchFamily="18" charset="0"/>
                        </a:rPr>
                        <a:t>Shukla &amp; Sharma (2025)</a:t>
                      </a:r>
                    </a:p>
                  </a:txBody>
                  <a:tcPr anchor="ctr"/>
                </a:tc>
                <a:tc>
                  <a:txBody>
                    <a:bodyPr/>
                    <a:lstStyle/>
                    <a:p>
                      <a:pPr>
                        <a:buNone/>
                      </a:pPr>
                      <a:r>
                        <a:rPr lang="en-IN" sz="1400">
                          <a:latin typeface="Times New Roman" panose="02020603050405020304" pitchFamily="18" charset="0"/>
                          <a:cs typeface="Times New Roman" panose="02020603050405020304" pitchFamily="18" charset="0"/>
                        </a:rPr>
                        <a:t>High recognition accuracy with real-time performance</a:t>
                      </a:r>
                    </a:p>
                  </a:txBody>
                  <a:tcPr anchor="ctr"/>
                </a:tc>
                <a:tc>
                  <a:txBody>
                    <a:bodyPr/>
                    <a:lstStyle/>
                    <a:p>
                      <a:pPr>
                        <a:buNone/>
                      </a:pPr>
                      <a:r>
                        <a:rPr lang="en-IN" sz="1400">
                          <a:latin typeface="Times New Roman" panose="02020603050405020304" pitchFamily="18" charset="0"/>
                          <a:cs typeface="Times New Roman" panose="02020603050405020304" pitchFamily="18" charset="0"/>
                        </a:rPr>
                        <a:t>Requires a large and diverse training dataset</a:t>
                      </a:r>
                    </a:p>
                  </a:txBody>
                  <a:tcPr anchor="ctr"/>
                </a:tc>
                <a:tc>
                  <a:txBody>
                    <a:bodyPr/>
                    <a:lstStyle/>
                    <a:p>
                      <a:pPr>
                        <a:buNone/>
                      </a:pPr>
                      <a:r>
                        <a:rPr lang="en-IN" sz="1400">
                          <a:latin typeface="Times New Roman" panose="02020603050405020304" pitchFamily="18" charset="0"/>
                          <a:cs typeface="Times New Roman" panose="02020603050405020304" pitchFamily="18" charset="0"/>
                        </a:rPr>
                        <a:t>CNN, TensorFlow, OpenCV</a:t>
                      </a:r>
                    </a:p>
                  </a:txBody>
                  <a:tcPr anchor="ctr"/>
                </a:tc>
                <a:extLst>
                  <a:ext uri="{0D108BD9-81ED-4DB2-BD59-A6C34878D82A}">
                    <a16:rowId xmlns:a16="http://schemas.microsoft.com/office/drawing/2014/main" val="2112136480"/>
                  </a:ext>
                </a:extLst>
              </a:tr>
              <a:tr h="848674">
                <a:tc>
                  <a:txBody>
                    <a:bodyPr/>
                    <a:lstStyle/>
                    <a:p>
                      <a:pPr>
                        <a:buNone/>
                      </a:pPr>
                      <a:r>
                        <a:rPr lang="en-IN" sz="1400" b="1">
                          <a:latin typeface="Times New Roman" panose="02020603050405020304" pitchFamily="18" charset="0"/>
                          <a:cs typeface="Times New Roman" panose="02020603050405020304" pitchFamily="18" charset="0"/>
                        </a:rPr>
                        <a:t>2</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Hand Gesture Recognition Using MediaPipe and LSTM Networks</a:t>
                      </a:r>
                    </a:p>
                  </a:txBody>
                  <a:tcPr anchor="ctr"/>
                </a:tc>
                <a:tc>
                  <a:txBody>
                    <a:bodyPr/>
                    <a:lstStyle/>
                    <a:p>
                      <a:pPr>
                        <a:buNone/>
                      </a:pPr>
                      <a:r>
                        <a:rPr lang="en-IN" sz="1400">
                          <a:latin typeface="Times New Roman" panose="02020603050405020304" pitchFamily="18" charset="0"/>
                          <a:cs typeface="Times New Roman" panose="02020603050405020304" pitchFamily="18" charset="0"/>
                        </a:rPr>
                        <a:t>Kumar &amp; Singh (2024)</a:t>
                      </a:r>
                    </a:p>
                  </a:txBody>
                  <a:tcPr anchor="ctr"/>
                </a:tc>
                <a:tc>
                  <a:txBody>
                    <a:bodyPr/>
                    <a:lstStyle/>
                    <a:p>
                      <a:pPr>
                        <a:buNone/>
                      </a:pPr>
                      <a:r>
                        <a:rPr lang="en-IN" sz="1400">
                          <a:latin typeface="Times New Roman" panose="02020603050405020304" pitchFamily="18" charset="0"/>
                          <a:cs typeface="Times New Roman" panose="02020603050405020304" pitchFamily="18" charset="0"/>
                        </a:rPr>
                        <a:t>Effectively recognizes dynamic hand gestures</a:t>
                      </a:r>
                    </a:p>
                  </a:txBody>
                  <a:tcPr anchor="ctr"/>
                </a:tc>
                <a:tc>
                  <a:txBody>
                    <a:bodyPr/>
                    <a:lstStyle/>
                    <a:p>
                      <a:pPr>
                        <a:buNone/>
                      </a:pPr>
                      <a:r>
                        <a:rPr lang="en-IN" sz="1400">
                          <a:latin typeface="Times New Roman" panose="02020603050405020304" pitchFamily="18" charset="0"/>
                          <a:cs typeface="Times New Roman" panose="02020603050405020304" pitchFamily="18" charset="0"/>
                        </a:rPr>
                        <a:t>Performance depends on lighting and camera quality</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MediaPipe Hands, LSTM, Python</a:t>
                      </a:r>
                    </a:p>
                  </a:txBody>
                  <a:tcPr anchor="ctr"/>
                </a:tc>
                <a:extLst>
                  <a:ext uri="{0D108BD9-81ED-4DB2-BD59-A6C34878D82A}">
                    <a16:rowId xmlns:a16="http://schemas.microsoft.com/office/drawing/2014/main" val="2716941163"/>
                  </a:ext>
                </a:extLst>
              </a:tr>
              <a:tr h="692796">
                <a:tc>
                  <a:txBody>
                    <a:bodyPr/>
                    <a:lstStyle/>
                    <a:p>
                      <a:pPr>
                        <a:buNone/>
                      </a:pPr>
                      <a:r>
                        <a:rPr lang="en-IN" sz="1400" b="1">
                          <a:latin typeface="Times New Roman" panose="02020603050405020304" pitchFamily="18" charset="0"/>
                          <a:cs typeface="Times New Roman" panose="02020603050405020304" pitchFamily="18" charset="0"/>
                        </a:rPr>
                        <a:t>3</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latin typeface="Times New Roman" panose="02020603050405020304" pitchFamily="18" charset="0"/>
                          <a:cs typeface="Times New Roman" panose="02020603050405020304" pitchFamily="18" charset="0"/>
                        </a:rPr>
                        <a:t>Deep Learning-Based Sign Language Recognition for Human–Computer Interaction</a:t>
                      </a:r>
                    </a:p>
                  </a:txBody>
                  <a:tcPr anchor="ctr"/>
                </a:tc>
                <a:tc>
                  <a:txBody>
                    <a:bodyPr/>
                    <a:lstStyle/>
                    <a:p>
                      <a:pPr>
                        <a:buNone/>
                      </a:pPr>
                      <a:r>
                        <a:rPr lang="en-IN" sz="1400">
                          <a:latin typeface="Times New Roman" panose="02020603050405020304" pitchFamily="18" charset="0"/>
                          <a:cs typeface="Times New Roman" panose="02020603050405020304" pitchFamily="18" charset="0"/>
                        </a:rPr>
                        <a:t>Lee et al. (2024)</a:t>
                      </a:r>
                    </a:p>
                  </a:txBody>
                  <a:tcPr anchor="ctr"/>
                </a:tc>
                <a:tc>
                  <a:txBody>
                    <a:bodyPr/>
                    <a:lstStyle/>
                    <a:p>
                      <a:pPr>
                        <a:buNone/>
                      </a:pPr>
                      <a:r>
                        <a:rPr lang="en-IN" sz="1400">
                          <a:latin typeface="Times New Roman" panose="02020603050405020304" pitchFamily="18" charset="0"/>
                          <a:cs typeface="Times New Roman" panose="02020603050405020304" pitchFamily="18" charset="0"/>
                        </a:rPr>
                        <a:t>Supports natural and contactless interaction</a:t>
                      </a:r>
                    </a:p>
                  </a:txBody>
                  <a:tcPr anchor="ctr"/>
                </a:tc>
                <a:tc>
                  <a:txBody>
                    <a:bodyPr/>
                    <a:lstStyle/>
                    <a:p>
                      <a:pPr>
                        <a:buNone/>
                      </a:pPr>
                      <a:r>
                        <a:rPr lang="en-IN" sz="1400">
                          <a:latin typeface="Times New Roman" panose="02020603050405020304" pitchFamily="18" charset="0"/>
                          <a:cs typeface="Times New Roman" panose="02020603050405020304" pitchFamily="18" charset="0"/>
                        </a:rPr>
                        <a:t>Computationally intensive for real-time deployment</a:t>
                      </a:r>
                    </a:p>
                  </a:txBody>
                  <a:tcPr anchor="ctr"/>
                </a:tc>
                <a:tc>
                  <a:txBody>
                    <a:bodyPr/>
                    <a:lstStyle/>
                    <a:p>
                      <a:pPr>
                        <a:buNone/>
                      </a:pPr>
                      <a:r>
                        <a:rPr lang="en-IN" sz="1400">
                          <a:latin typeface="Times New Roman" panose="02020603050405020304" pitchFamily="18" charset="0"/>
                          <a:cs typeface="Times New Roman" panose="02020603050405020304" pitchFamily="18" charset="0"/>
                        </a:rPr>
                        <a:t>CNN, ResNet, Computer Vision</a:t>
                      </a:r>
                    </a:p>
                  </a:txBody>
                  <a:tcPr anchor="ctr"/>
                </a:tc>
                <a:extLst>
                  <a:ext uri="{0D108BD9-81ED-4DB2-BD59-A6C34878D82A}">
                    <a16:rowId xmlns:a16="http://schemas.microsoft.com/office/drawing/2014/main" val="2038126411"/>
                  </a:ext>
                </a:extLst>
              </a:tr>
              <a:tr h="1004554">
                <a:tc>
                  <a:txBody>
                    <a:bodyPr/>
                    <a:lstStyle/>
                    <a:p>
                      <a:pPr>
                        <a:buNone/>
                      </a:pPr>
                      <a:r>
                        <a:rPr lang="en-IN" sz="1400" b="1">
                          <a:latin typeface="Times New Roman" panose="02020603050405020304" pitchFamily="18" charset="0"/>
                          <a:cs typeface="Times New Roman" panose="02020603050405020304" pitchFamily="18" charset="0"/>
                        </a:rPr>
                        <a:t>4</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latin typeface="Times New Roman" panose="02020603050405020304" pitchFamily="18" charset="0"/>
                          <a:cs typeface="Times New Roman" panose="02020603050405020304" pitchFamily="18" charset="0"/>
                        </a:rPr>
                        <a:t>Vision-Based Sign Language Translation Using Transformer Networks</a:t>
                      </a:r>
                    </a:p>
                  </a:txBody>
                  <a:tcPr anchor="ctr"/>
                </a:tc>
                <a:tc>
                  <a:txBody>
                    <a:bodyPr/>
                    <a:lstStyle/>
                    <a:p>
                      <a:pPr>
                        <a:buNone/>
                      </a:pPr>
                      <a:r>
                        <a:rPr lang="en-IN" sz="1400">
                          <a:latin typeface="Times New Roman" panose="02020603050405020304" pitchFamily="18" charset="0"/>
                          <a:cs typeface="Times New Roman" panose="02020603050405020304" pitchFamily="18" charset="0"/>
                        </a:rPr>
                        <a:t>Ahmed et al. (2023)</a:t>
                      </a:r>
                    </a:p>
                  </a:txBody>
                  <a:tcPr anchor="ctr"/>
                </a:tc>
                <a:tc>
                  <a:txBody>
                    <a:bodyPr/>
                    <a:lstStyle/>
                    <a:p>
                      <a:pPr>
                        <a:buNone/>
                      </a:pPr>
                      <a:r>
                        <a:rPr lang="en-IN" sz="1400">
                          <a:latin typeface="Times New Roman" panose="02020603050405020304" pitchFamily="18" charset="0"/>
                          <a:cs typeface="Times New Roman" panose="02020603050405020304" pitchFamily="18" charset="0"/>
                        </a:rPr>
                        <a:t>Better understanding of sequential gestures and sentences</a:t>
                      </a:r>
                    </a:p>
                  </a:txBody>
                  <a:tcPr anchor="ctr"/>
                </a:tc>
                <a:tc>
                  <a:txBody>
                    <a:bodyPr/>
                    <a:lstStyle/>
                    <a:p>
                      <a:pPr>
                        <a:buNone/>
                      </a:pPr>
                      <a:r>
                        <a:rPr lang="en-IN" sz="1400">
                          <a:latin typeface="Times New Roman" panose="02020603050405020304" pitchFamily="18" charset="0"/>
                          <a:cs typeface="Times New Roman" panose="02020603050405020304" pitchFamily="18" charset="0"/>
                        </a:rPr>
                        <a:t>Requires high computational resources and large datasets</a:t>
                      </a:r>
                    </a:p>
                  </a:txBody>
                  <a:tcPr anchor="ctr"/>
                </a:tc>
                <a:tc>
                  <a:txBody>
                    <a:bodyPr/>
                    <a:lstStyle/>
                    <a:p>
                      <a:pPr>
                        <a:buNone/>
                      </a:pPr>
                      <a:r>
                        <a:rPr lang="en-IN" sz="1400">
                          <a:latin typeface="Times New Roman" panose="02020603050405020304" pitchFamily="18" charset="0"/>
                          <a:cs typeface="Times New Roman" panose="02020603050405020304" pitchFamily="18" charset="0"/>
                        </a:rPr>
                        <a:t>Vision Transformer, Attention Mechanism, PyTorch</a:t>
                      </a:r>
                    </a:p>
                  </a:txBody>
                  <a:tcPr anchor="ctr"/>
                </a:tc>
                <a:extLst>
                  <a:ext uri="{0D108BD9-81ED-4DB2-BD59-A6C34878D82A}">
                    <a16:rowId xmlns:a16="http://schemas.microsoft.com/office/drawing/2014/main" val="3437652849"/>
                  </a:ext>
                </a:extLst>
              </a:tr>
              <a:tr h="1004554">
                <a:tc>
                  <a:txBody>
                    <a:bodyPr/>
                    <a:lstStyle/>
                    <a:p>
                      <a:pPr>
                        <a:buNone/>
                      </a:pPr>
                      <a:r>
                        <a:rPr lang="en-IN" sz="1400" b="1">
                          <a:latin typeface="Times New Roman" panose="02020603050405020304" pitchFamily="18" charset="0"/>
                          <a:cs typeface="Times New Roman" panose="02020603050405020304" pitchFamily="18" charset="0"/>
                        </a:rPr>
                        <a:t>5</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latin typeface="Times New Roman" panose="02020603050405020304" pitchFamily="18" charset="0"/>
                          <a:cs typeface="Times New Roman" panose="02020603050405020304" pitchFamily="18" charset="0"/>
                        </a:rPr>
                        <a:t>Real-Time Hand Gesture Recognition Using Deep Learning and Computer Vision</a:t>
                      </a:r>
                    </a:p>
                  </a:txBody>
                  <a:tcPr anchor="ctr"/>
                </a:tc>
                <a:tc>
                  <a:txBody>
                    <a:bodyPr/>
                    <a:lstStyle/>
                    <a:p>
                      <a:pPr>
                        <a:buNone/>
                      </a:pPr>
                      <a:r>
                        <a:rPr lang="en-IN" sz="1400">
                          <a:latin typeface="Times New Roman" panose="02020603050405020304" pitchFamily="18" charset="0"/>
                          <a:cs typeface="Times New Roman" panose="02020603050405020304" pitchFamily="18" charset="0"/>
                        </a:rPr>
                        <a:t>Patel &amp; Verma (2023)</a:t>
                      </a:r>
                    </a:p>
                  </a:txBody>
                  <a:tcPr anchor="ctr"/>
                </a:tc>
                <a:tc>
                  <a:txBody>
                    <a:bodyPr/>
                    <a:lstStyle/>
                    <a:p>
                      <a:pPr>
                        <a:buNone/>
                      </a:pPr>
                      <a:r>
                        <a:rPr lang="en-IN" sz="1400">
                          <a:latin typeface="Times New Roman" panose="02020603050405020304" pitchFamily="18" charset="0"/>
                          <a:cs typeface="Times New Roman" panose="02020603050405020304" pitchFamily="18" charset="0"/>
                        </a:rPr>
                        <a:t>Low-cost solution using standard webcams</a:t>
                      </a:r>
                    </a:p>
                  </a:txBody>
                  <a:tcPr anchor="ctr"/>
                </a:tc>
                <a:tc>
                  <a:txBody>
                    <a:bodyPr/>
                    <a:lstStyle/>
                    <a:p>
                      <a:pPr>
                        <a:buNone/>
                      </a:pPr>
                      <a:r>
                        <a:rPr lang="en-IN" sz="1400">
                          <a:latin typeface="Times New Roman" panose="02020603050405020304" pitchFamily="18" charset="0"/>
                          <a:cs typeface="Times New Roman" panose="02020603050405020304" pitchFamily="18" charset="0"/>
                        </a:rPr>
                        <a:t>Accuracy decreases with occluded or overlapping hands</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OpenCV, CNN, TensorFlow</a:t>
                      </a:r>
                    </a:p>
                  </a:txBody>
                  <a:tcPr anchor="ctr"/>
                </a:tc>
                <a:extLst>
                  <a:ext uri="{0D108BD9-81ED-4DB2-BD59-A6C34878D82A}">
                    <a16:rowId xmlns:a16="http://schemas.microsoft.com/office/drawing/2014/main" val="2161349500"/>
                  </a:ext>
                </a:extLst>
              </a:tr>
            </a:tbl>
          </a:graphicData>
        </a:graphic>
      </p:graphicFrame>
    </p:spTree>
    <p:extLst>
      <p:ext uri="{BB962C8B-B14F-4D97-AF65-F5344CB8AC3E}">
        <p14:creationId xmlns:p14="http://schemas.microsoft.com/office/powerpoint/2010/main" val="302559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A0699-5DAE-3CC7-F378-5F2DE19AEB0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F4D900B-11A3-D8A4-8790-2F87C8908C8F}"/>
              </a:ext>
            </a:extLst>
          </p:cNvPr>
          <p:cNvSpPr/>
          <p:nvPr/>
        </p:nvSpPr>
        <p:spPr>
          <a:xfrm>
            <a:off x="76200" y="109571"/>
            <a:ext cx="12037142" cy="6611905"/>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object 2">
            <a:extLst>
              <a:ext uri="{FF2B5EF4-FFF2-40B4-BE49-F238E27FC236}">
                <a16:creationId xmlns:a16="http://schemas.microsoft.com/office/drawing/2014/main" id="{BE724A54-5460-8201-5AD7-75B56003EB69}"/>
              </a:ext>
            </a:extLst>
          </p:cNvPr>
          <p:cNvPicPr/>
          <p:nvPr/>
        </p:nvPicPr>
        <p:blipFill>
          <a:blip r:embed="rId2" cstate="print"/>
          <a:stretch>
            <a:fillRect/>
          </a:stretch>
        </p:blipFill>
        <p:spPr>
          <a:xfrm>
            <a:off x="509607" y="368131"/>
            <a:ext cx="1156021" cy="1262483"/>
          </a:xfrm>
          <a:prstGeom prst="rect">
            <a:avLst/>
          </a:prstGeom>
        </p:spPr>
      </p:pic>
      <p:pic>
        <p:nvPicPr>
          <p:cNvPr id="3" name="object 3">
            <a:extLst>
              <a:ext uri="{FF2B5EF4-FFF2-40B4-BE49-F238E27FC236}">
                <a16:creationId xmlns:a16="http://schemas.microsoft.com/office/drawing/2014/main" id="{306FC593-AF98-B027-568A-FA9F5461C110}"/>
              </a:ext>
            </a:extLst>
          </p:cNvPr>
          <p:cNvPicPr/>
          <p:nvPr/>
        </p:nvPicPr>
        <p:blipFill>
          <a:blip r:embed="rId3" cstate="print"/>
          <a:stretch>
            <a:fillRect/>
          </a:stretch>
        </p:blipFill>
        <p:spPr>
          <a:xfrm>
            <a:off x="10446044" y="442123"/>
            <a:ext cx="1236349" cy="1114501"/>
          </a:xfrm>
          <a:prstGeom prst="rect">
            <a:avLst/>
          </a:prstGeom>
        </p:spPr>
      </p:pic>
      <p:sp>
        <p:nvSpPr>
          <p:cNvPr id="5" name="object 5">
            <a:extLst>
              <a:ext uri="{FF2B5EF4-FFF2-40B4-BE49-F238E27FC236}">
                <a16:creationId xmlns:a16="http://schemas.microsoft.com/office/drawing/2014/main" id="{3362413C-DBD5-8B4D-6586-BF2E0B7422A2}"/>
              </a:ext>
            </a:extLst>
          </p:cNvPr>
          <p:cNvSpPr txBox="1"/>
          <p:nvPr/>
        </p:nvSpPr>
        <p:spPr>
          <a:xfrm>
            <a:off x="749710" y="2064280"/>
            <a:ext cx="6653980" cy="3222036"/>
          </a:xfrm>
          <a:prstGeom prst="rect">
            <a:avLst/>
          </a:prstGeom>
        </p:spPr>
        <p:txBody>
          <a:bodyPr vert="horz" wrap="square" lIns="0" tIns="92075" rIns="0" bIns="0" rtlCol="0">
            <a:spAutoFit/>
          </a:bodyPr>
          <a:lstStyle/>
          <a:p>
            <a:pPr marL="12700" algn="just">
              <a:lnSpc>
                <a:spcPct val="100000"/>
              </a:lnSpc>
              <a:spcBef>
                <a:spcPts val="725"/>
              </a:spcBef>
              <a:tabLst>
                <a:tab pos="309245" algn="l"/>
              </a:tabLst>
            </a:pPr>
            <a:r>
              <a:rPr lang="en-IN" sz="2000" b="1" dirty="0">
                <a:latin typeface="Times New Roman" panose="02020603050405020304" pitchFamily="18" charset="0"/>
                <a:cs typeface="Times New Roman" panose="02020603050405020304" pitchFamily="18" charset="0"/>
              </a:rPr>
              <a:t>WHAT IS DOES?</a:t>
            </a:r>
          </a:p>
          <a:p>
            <a:pPr marL="34290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This module captures live video through a webcam and detects the user's hands using MediaPipe Hands. It continuously tracks the position of the hands and extracts important landmarks required for sign language recognition.</a:t>
            </a:r>
          </a:p>
          <a:p>
            <a:pPr marL="12700" algn="just">
              <a:lnSpc>
                <a:spcPct val="100000"/>
              </a:lnSpc>
              <a:spcBef>
                <a:spcPts val="725"/>
              </a:spcBef>
              <a:tabLst>
                <a:tab pos="309245" algn="l"/>
              </a:tabLst>
            </a:pPr>
            <a:r>
              <a:rPr lang="en-IN" sz="2000" b="1" dirty="0">
                <a:latin typeface="Times New Roman" panose="02020603050405020304" pitchFamily="18" charset="0"/>
                <a:cs typeface="Times New Roman" panose="02020603050405020304" pitchFamily="18" charset="0"/>
              </a:rPr>
              <a:t>KEY FUNCTIONS:</a:t>
            </a:r>
          </a:p>
          <a:p>
            <a:pPr marL="355600" indent="-342900" algn="just">
              <a:lnSpc>
                <a:spcPct val="100000"/>
              </a:lnSpc>
              <a:spcBef>
                <a:spcPts val="725"/>
              </a:spcBef>
              <a:buFont typeface="Wingdings" panose="05000000000000000000" pitchFamily="2" charset="2"/>
              <a:buChar char="§"/>
              <a:tabLst>
                <a:tab pos="309245" algn="l"/>
              </a:tabLst>
            </a:pPr>
            <a:r>
              <a:rPr lang="en-IN" sz="2000" dirty="0">
                <a:latin typeface="Times New Roman" panose="02020603050405020304" pitchFamily="18" charset="0"/>
                <a:cs typeface="Times New Roman" panose="02020603050405020304" pitchFamily="18" charset="0"/>
              </a:rPr>
              <a:t>Captures real-time video input from the webcam.</a:t>
            </a:r>
          </a:p>
          <a:p>
            <a:pPr marL="355600" indent="-342900" algn="just">
              <a:lnSpc>
                <a:spcPct val="100000"/>
              </a:lnSpc>
              <a:spcBef>
                <a:spcPts val="725"/>
              </a:spcBef>
              <a:buFont typeface="Wingdings" panose="05000000000000000000" pitchFamily="2" charset="2"/>
              <a:buChar char="§"/>
              <a:tabLst>
                <a:tab pos="309245" algn="l"/>
              </a:tabLst>
            </a:pPr>
            <a:r>
              <a:rPr lang="en-IN" sz="2000" dirty="0">
                <a:latin typeface="Times New Roman" panose="02020603050405020304" pitchFamily="18" charset="0"/>
                <a:cs typeface="Times New Roman" panose="02020603050405020304" pitchFamily="18" charset="0"/>
              </a:rPr>
              <a:t>Detects one or both hands in each frame.</a:t>
            </a:r>
          </a:p>
          <a:p>
            <a:pPr marL="355600" indent="-342900" algn="just">
              <a:lnSpc>
                <a:spcPct val="100000"/>
              </a:lnSpc>
              <a:spcBef>
                <a:spcPts val="725"/>
              </a:spcBef>
              <a:buFont typeface="Wingdings" panose="05000000000000000000" pitchFamily="2" charset="2"/>
              <a:buChar char="§"/>
              <a:tabLst>
                <a:tab pos="309245" algn="l"/>
              </a:tabLst>
            </a:pPr>
            <a:r>
              <a:rPr lang="en-IN" sz="2000" dirty="0">
                <a:latin typeface="Times New Roman" panose="02020603050405020304" pitchFamily="18" charset="0"/>
                <a:cs typeface="Times New Roman" panose="02020603050405020304" pitchFamily="18" charset="0"/>
              </a:rPr>
              <a:t>Continuously tracks hand movements for gesture recognition.</a:t>
            </a:r>
          </a:p>
        </p:txBody>
      </p:sp>
      <p:sp>
        <p:nvSpPr>
          <p:cNvPr id="9" name="Title 8">
            <a:extLst>
              <a:ext uri="{FF2B5EF4-FFF2-40B4-BE49-F238E27FC236}">
                <a16:creationId xmlns:a16="http://schemas.microsoft.com/office/drawing/2014/main" id="{16D3457F-0BE8-684B-8DA0-9C4F89B79E62}"/>
              </a:ext>
            </a:extLst>
          </p:cNvPr>
          <p:cNvSpPr>
            <a:spLocks noGrp="1"/>
          </p:cNvSpPr>
          <p:nvPr>
            <p:ph type="title"/>
          </p:nvPr>
        </p:nvSpPr>
        <p:spPr>
          <a:xfrm>
            <a:off x="1750142" y="365125"/>
            <a:ext cx="8695902" cy="1525201"/>
          </a:xfrm>
        </p:spPr>
        <p:txBody>
          <a:bodyPr>
            <a:normAutofit/>
          </a:bodyPr>
          <a:lstStyle/>
          <a:p>
            <a:pPr algn="ctr"/>
            <a:r>
              <a:rPr lang="en-US" dirty="0">
                <a:latin typeface="Times New Roman" panose="02020603050405020304" pitchFamily="18" charset="0"/>
                <a:cs typeface="Times New Roman" panose="02020603050405020304" pitchFamily="18" charset="0"/>
              </a:rPr>
              <a:t>MODULE 1: LIVE SIGN CAPTURE MODULE</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42D688E-92D5-085B-0DD8-2203B5E0C63D}"/>
              </a:ext>
            </a:extLst>
          </p:cNvPr>
          <p:cNvPicPr>
            <a:picLocks noChangeAspect="1"/>
          </p:cNvPicPr>
          <p:nvPr/>
        </p:nvPicPr>
        <p:blipFill>
          <a:blip r:embed="rId4"/>
          <a:stretch>
            <a:fillRect/>
          </a:stretch>
        </p:blipFill>
        <p:spPr>
          <a:xfrm>
            <a:off x="7598059" y="2222878"/>
            <a:ext cx="4320914" cy="3017782"/>
          </a:xfrm>
          <a:prstGeom prst="rect">
            <a:avLst/>
          </a:prstGeom>
        </p:spPr>
      </p:pic>
    </p:spTree>
    <p:extLst>
      <p:ext uri="{BB962C8B-B14F-4D97-AF65-F5344CB8AC3E}">
        <p14:creationId xmlns:p14="http://schemas.microsoft.com/office/powerpoint/2010/main" val="2170154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A110D-3436-B147-B5A5-96347E24F257}"/>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207B0D7-F414-D50D-30CA-C4C1BE51873F}"/>
              </a:ext>
            </a:extLst>
          </p:cNvPr>
          <p:cNvSpPr/>
          <p:nvPr/>
        </p:nvSpPr>
        <p:spPr>
          <a:xfrm>
            <a:off x="76200" y="109571"/>
            <a:ext cx="12037142" cy="6611905"/>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object 2">
            <a:extLst>
              <a:ext uri="{FF2B5EF4-FFF2-40B4-BE49-F238E27FC236}">
                <a16:creationId xmlns:a16="http://schemas.microsoft.com/office/drawing/2014/main" id="{9200BF23-A88A-44E5-C2EE-98D324905455}"/>
              </a:ext>
            </a:extLst>
          </p:cNvPr>
          <p:cNvPicPr/>
          <p:nvPr/>
        </p:nvPicPr>
        <p:blipFill>
          <a:blip r:embed="rId2" cstate="print"/>
          <a:stretch>
            <a:fillRect/>
          </a:stretch>
        </p:blipFill>
        <p:spPr>
          <a:xfrm>
            <a:off x="509607" y="368131"/>
            <a:ext cx="1156021" cy="1262483"/>
          </a:xfrm>
          <a:prstGeom prst="rect">
            <a:avLst/>
          </a:prstGeom>
        </p:spPr>
      </p:pic>
      <p:pic>
        <p:nvPicPr>
          <p:cNvPr id="3" name="object 3">
            <a:extLst>
              <a:ext uri="{FF2B5EF4-FFF2-40B4-BE49-F238E27FC236}">
                <a16:creationId xmlns:a16="http://schemas.microsoft.com/office/drawing/2014/main" id="{2BD5358C-5152-E2C9-513A-E1C4760265C9}"/>
              </a:ext>
            </a:extLst>
          </p:cNvPr>
          <p:cNvPicPr/>
          <p:nvPr/>
        </p:nvPicPr>
        <p:blipFill>
          <a:blip r:embed="rId3" cstate="print"/>
          <a:stretch>
            <a:fillRect/>
          </a:stretch>
        </p:blipFill>
        <p:spPr>
          <a:xfrm>
            <a:off x="10446044" y="442123"/>
            <a:ext cx="1236349" cy="1114501"/>
          </a:xfrm>
          <a:prstGeom prst="rect">
            <a:avLst/>
          </a:prstGeom>
        </p:spPr>
      </p:pic>
      <p:sp>
        <p:nvSpPr>
          <p:cNvPr id="5" name="object 5">
            <a:extLst>
              <a:ext uri="{FF2B5EF4-FFF2-40B4-BE49-F238E27FC236}">
                <a16:creationId xmlns:a16="http://schemas.microsoft.com/office/drawing/2014/main" id="{8A82C8A5-6A5C-E151-E9A5-2450D618F849}"/>
              </a:ext>
            </a:extLst>
          </p:cNvPr>
          <p:cNvSpPr txBox="1"/>
          <p:nvPr/>
        </p:nvSpPr>
        <p:spPr>
          <a:xfrm>
            <a:off x="749709" y="2064280"/>
            <a:ext cx="8590936" cy="3222036"/>
          </a:xfrm>
          <a:prstGeom prst="rect">
            <a:avLst/>
          </a:prstGeom>
        </p:spPr>
        <p:txBody>
          <a:bodyPr vert="horz" wrap="square" lIns="0" tIns="92075" rIns="0" bIns="0" rtlCol="0">
            <a:spAutoFit/>
          </a:bodyPr>
          <a:lstStyle/>
          <a:p>
            <a:pPr marL="12700" algn="just">
              <a:lnSpc>
                <a:spcPct val="100000"/>
              </a:lnSpc>
              <a:spcBef>
                <a:spcPts val="725"/>
              </a:spcBef>
              <a:tabLst>
                <a:tab pos="309245" algn="l"/>
              </a:tabLst>
            </a:pPr>
            <a:r>
              <a:rPr lang="en-IN" sz="2000" b="1" dirty="0">
                <a:latin typeface="Times New Roman" panose="02020603050405020304" pitchFamily="18" charset="0"/>
                <a:cs typeface="Times New Roman" panose="02020603050405020304" pitchFamily="18" charset="0"/>
              </a:rPr>
              <a:t>WHAT IS DOES?</a:t>
            </a:r>
          </a:p>
          <a:p>
            <a:pPr marL="34290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This module processes the detected hand landmarks and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them using a trained deep learning model. It recognizes the performed sign and classifies it as a letter, word, or phrase, enabling accurate interpretation of sign language gestures.</a:t>
            </a:r>
          </a:p>
          <a:p>
            <a:pPr marL="12700" algn="just">
              <a:lnSpc>
                <a:spcPct val="100000"/>
              </a:lnSpc>
              <a:spcBef>
                <a:spcPts val="725"/>
              </a:spcBef>
              <a:tabLst>
                <a:tab pos="309245" algn="l"/>
              </a:tabLst>
            </a:pPr>
            <a:r>
              <a:rPr lang="en-IN" sz="2000" b="1" dirty="0">
                <a:latin typeface="Times New Roman" panose="02020603050405020304" pitchFamily="18" charset="0"/>
                <a:cs typeface="Times New Roman" panose="02020603050405020304" pitchFamily="18" charset="0"/>
              </a:rPr>
              <a:t>KEY FUNCTIONS:</a:t>
            </a:r>
          </a:p>
          <a:p>
            <a:pPr marL="355600" indent="-342900" algn="just">
              <a:lnSpc>
                <a:spcPct val="100000"/>
              </a:lnSpc>
              <a:spcBef>
                <a:spcPts val="725"/>
              </a:spcBef>
              <a:buFont typeface="Wingdings" panose="05000000000000000000" pitchFamily="2" charset="2"/>
              <a:buChar char="§"/>
              <a:tabLst>
                <a:tab pos="309245" algn="l"/>
              </a:tabLst>
            </a:pPr>
            <a:r>
              <a:rPr lang="en-IN" sz="2000" dirty="0">
                <a:latin typeface="Times New Roman" panose="02020603050405020304" pitchFamily="18" charset="0"/>
                <a:cs typeface="Times New Roman" panose="02020603050405020304" pitchFamily="18" charset="0"/>
              </a:rPr>
              <a:t>Processes hand landmark coordinates extracted from MediaPipe.</a:t>
            </a:r>
          </a:p>
          <a:p>
            <a:pPr marL="355600" indent="-342900" algn="just">
              <a:lnSpc>
                <a:spcPct val="100000"/>
              </a:lnSpc>
              <a:spcBef>
                <a:spcPts val="725"/>
              </a:spcBef>
              <a:buFont typeface="Wingdings" panose="05000000000000000000" pitchFamily="2" charset="2"/>
              <a:buChar char="§"/>
              <a:tabLst>
                <a:tab pos="309245" algn="l"/>
              </a:tabLst>
            </a:pPr>
            <a:r>
              <a:rPr lang="en-IN" sz="2000" dirty="0">
                <a:latin typeface="Times New Roman" panose="02020603050405020304" pitchFamily="18" charset="0"/>
                <a:cs typeface="Times New Roman" panose="02020603050405020304" pitchFamily="18" charset="0"/>
              </a:rPr>
              <a:t>Uses a trained deep learning model (CNN/LSTM) for gesture recognition.</a:t>
            </a:r>
          </a:p>
          <a:p>
            <a:pPr marL="355600" indent="-342900" algn="just">
              <a:lnSpc>
                <a:spcPct val="100000"/>
              </a:lnSpc>
              <a:spcBef>
                <a:spcPts val="725"/>
              </a:spcBef>
              <a:buFont typeface="Wingdings" panose="05000000000000000000" pitchFamily="2" charset="2"/>
              <a:buChar char="§"/>
              <a:tabLst>
                <a:tab pos="309245" algn="l"/>
              </a:tabLst>
            </a:pPr>
            <a:r>
              <a:rPr lang="en-IN" sz="2000" dirty="0">
                <a:latin typeface="Times New Roman" panose="02020603050405020304" pitchFamily="18" charset="0"/>
                <a:cs typeface="Times New Roman" panose="02020603050405020304" pitchFamily="18" charset="0"/>
              </a:rPr>
              <a:t>Classifies signs into letters, words, or predefined phrases.</a:t>
            </a:r>
          </a:p>
        </p:txBody>
      </p:sp>
      <p:sp>
        <p:nvSpPr>
          <p:cNvPr id="9" name="Title 8">
            <a:extLst>
              <a:ext uri="{FF2B5EF4-FFF2-40B4-BE49-F238E27FC236}">
                <a16:creationId xmlns:a16="http://schemas.microsoft.com/office/drawing/2014/main" id="{7829AD51-822D-D375-2990-2235A4870B6E}"/>
              </a:ext>
            </a:extLst>
          </p:cNvPr>
          <p:cNvSpPr>
            <a:spLocks noGrp="1"/>
          </p:cNvSpPr>
          <p:nvPr>
            <p:ph type="title"/>
          </p:nvPr>
        </p:nvSpPr>
        <p:spPr>
          <a:xfrm>
            <a:off x="1750142" y="365125"/>
            <a:ext cx="8695902" cy="1525201"/>
          </a:xfrm>
        </p:spPr>
        <p:txBody>
          <a:bodyPr>
            <a:normAutofit/>
          </a:bodyPr>
          <a:lstStyle/>
          <a:p>
            <a:pPr algn="ctr"/>
            <a:r>
              <a:rPr lang="en-US" dirty="0">
                <a:latin typeface="Times New Roman" panose="02020603050405020304" pitchFamily="18" charset="0"/>
                <a:cs typeface="Times New Roman" panose="02020603050405020304" pitchFamily="18" charset="0"/>
              </a:rPr>
              <a:t>MODULE 2: INTELLIGENT SIGN RECOGNITION MODULE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8234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60D57-80EE-91FC-BDCB-E5F4F0CDC61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889473E-420E-5A07-87FD-7E8422B7138F}"/>
              </a:ext>
            </a:extLst>
          </p:cNvPr>
          <p:cNvSpPr/>
          <p:nvPr/>
        </p:nvSpPr>
        <p:spPr>
          <a:xfrm>
            <a:off x="76200" y="109571"/>
            <a:ext cx="12037142" cy="6611905"/>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object 2">
            <a:extLst>
              <a:ext uri="{FF2B5EF4-FFF2-40B4-BE49-F238E27FC236}">
                <a16:creationId xmlns:a16="http://schemas.microsoft.com/office/drawing/2014/main" id="{DCB0A3EC-6088-DE5E-079D-4919A718D288}"/>
              </a:ext>
            </a:extLst>
          </p:cNvPr>
          <p:cNvPicPr/>
          <p:nvPr/>
        </p:nvPicPr>
        <p:blipFill>
          <a:blip r:embed="rId2" cstate="print"/>
          <a:stretch>
            <a:fillRect/>
          </a:stretch>
        </p:blipFill>
        <p:spPr>
          <a:xfrm>
            <a:off x="509607" y="368131"/>
            <a:ext cx="1156021" cy="1262483"/>
          </a:xfrm>
          <a:prstGeom prst="rect">
            <a:avLst/>
          </a:prstGeom>
        </p:spPr>
      </p:pic>
      <p:pic>
        <p:nvPicPr>
          <p:cNvPr id="3" name="object 3">
            <a:extLst>
              <a:ext uri="{FF2B5EF4-FFF2-40B4-BE49-F238E27FC236}">
                <a16:creationId xmlns:a16="http://schemas.microsoft.com/office/drawing/2014/main" id="{E7104868-A215-08AF-78CD-D0E95FA0474F}"/>
              </a:ext>
            </a:extLst>
          </p:cNvPr>
          <p:cNvPicPr/>
          <p:nvPr/>
        </p:nvPicPr>
        <p:blipFill>
          <a:blip r:embed="rId3" cstate="print"/>
          <a:stretch>
            <a:fillRect/>
          </a:stretch>
        </p:blipFill>
        <p:spPr>
          <a:xfrm>
            <a:off x="10446044" y="442123"/>
            <a:ext cx="1236349" cy="1114501"/>
          </a:xfrm>
          <a:prstGeom prst="rect">
            <a:avLst/>
          </a:prstGeom>
        </p:spPr>
      </p:pic>
      <p:sp>
        <p:nvSpPr>
          <p:cNvPr id="5" name="object 5">
            <a:extLst>
              <a:ext uri="{FF2B5EF4-FFF2-40B4-BE49-F238E27FC236}">
                <a16:creationId xmlns:a16="http://schemas.microsoft.com/office/drawing/2014/main" id="{88BFD912-773F-FF05-67C0-7D5B87C3E39D}"/>
              </a:ext>
            </a:extLst>
          </p:cNvPr>
          <p:cNvSpPr txBox="1"/>
          <p:nvPr/>
        </p:nvSpPr>
        <p:spPr>
          <a:xfrm>
            <a:off x="749709" y="2064280"/>
            <a:ext cx="8453285" cy="3529812"/>
          </a:xfrm>
          <a:prstGeom prst="rect">
            <a:avLst/>
          </a:prstGeom>
        </p:spPr>
        <p:txBody>
          <a:bodyPr vert="horz" wrap="square" lIns="0" tIns="92075" rIns="0" bIns="0" rtlCol="0">
            <a:spAutoFit/>
          </a:bodyPr>
          <a:lstStyle/>
          <a:p>
            <a:pPr marL="12700" algn="just">
              <a:lnSpc>
                <a:spcPct val="100000"/>
              </a:lnSpc>
              <a:spcBef>
                <a:spcPts val="725"/>
              </a:spcBef>
              <a:tabLst>
                <a:tab pos="309245" algn="l"/>
              </a:tabLst>
            </a:pPr>
            <a:r>
              <a:rPr lang="en-IN" sz="2000" b="1" dirty="0">
                <a:latin typeface="Times New Roman" panose="02020603050405020304" pitchFamily="18" charset="0"/>
                <a:cs typeface="Times New Roman" panose="02020603050405020304" pitchFamily="18" charset="0"/>
              </a:rPr>
              <a:t>WHAT IS DOES?</a:t>
            </a:r>
          </a:p>
          <a:p>
            <a:pPr marL="34290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This module converts the recognized sign language gestures into readable text and optional speech output. It provides users with an intuitive interface that displays the live camera feed, recognized gestures, translated text, and speech output, enabling effective communication in real time.</a:t>
            </a:r>
          </a:p>
          <a:p>
            <a:pPr marL="12700" algn="just">
              <a:lnSpc>
                <a:spcPct val="100000"/>
              </a:lnSpc>
              <a:spcBef>
                <a:spcPts val="725"/>
              </a:spcBef>
              <a:tabLst>
                <a:tab pos="309245" algn="l"/>
              </a:tabLst>
            </a:pPr>
            <a:r>
              <a:rPr lang="en-IN" sz="2000" b="1" dirty="0">
                <a:latin typeface="Times New Roman" panose="02020603050405020304" pitchFamily="18" charset="0"/>
                <a:cs typeface="Times New Roman" panose="02020603050405020304" pitchFamily="18" charset="0"/>
              </a:rPr>
              <a:t>KEY FUNCTIONS:</a:t>
            </a:r>
          </a:p>
          <a:p>
            <a:pPr marL="355600" indent="-342900" algn="just">
              <a:lnSpc>
                <a:spcPct val="100000"/>
              </a:lnSpc>
              <a:spcBef>
                <a:spcPts val="725"/>
              </a:spcBef>
              <a:buFont typeface="Wingdings" panose="05000000000000000000" pitchFamily="2" charset="2"/>
              <a:buChar char="§"/>
              <a:tabLst>
                <a:tab pos="309245" algn="l"/>
              </a:tabLst>
            </a:pPr>
            <a:r>
              <a:rPr lang="en-IN" sz="2000" dirty="0">
                <a:latin typeface="Times New Roman" panose="02020603050405020304" pitchFamily="18" charset="0"/>
                <a:cs typeface="Times New Roman" panose="02020603050405020304" pitchFamily="18" charset="0"/>
              </a:rPr>
              <a:t>Converts recognized signs into readable text.</a:t>
            </a:r>
          </a:p>
          <a:p>
            <a:pPr marL="355600" indent="-342900" algn="just">
              <a:lnSpc>
                <a:spcPct val="100000"/>
              </a:lnSpc>
              <a:spcBef>
                <a:spcPts val="725"/>
              </a:spcBef>
              <a:buFont typeface="Wingdings" panose="05000000000000000000" pitchFamily="2" charset="2"/>
              <a:buChar char="§"/>
              <a:tabLst>
                <a:tab pos="309245" algn="l"/>
              </a:tabLst>
            </a:pPr>
            <a:r>
              <a:rPr lang="en-IN" sz="2000" dirty="0">
                <a:latin typeface="Times New Roman" panose="02020603050405020304" pitchFamily="18" charset="0"/>
                <a:cs typeface="Times New Roman" panose="02020603050405020304" pitchFamily="18" charset="0"/>
              </a:rPr>
              <a:t>Displays live video, detected sign, and translated output on the interface.</a:t>
            </a:r>
          </a:p>
          <a:p>
            <a:pPr marL="355600" indent="-342900" algn="just">
              <a:lnSpc>
                <a:spcPct val="100000"/>
              </a:lnSpc>
              <a:spcBef>
                <a:spcPts val="725"/>
              </a:spcBef>
              <a:buFont typeface="Wingdings" panose="05000000000000000000" pitchFamily="2" charset="2"/>
              <a:buChar char="§"/>
              <a:tabLst>
                <a:tab pos="309245" algn="l"/>
              </a:tabLst>
            </a:pPr>
            <a:r>
              <a:rPr lang="en-IN" sz="2000" dirty="0">
                <a:latin typeface="Times New Roman" panose="02020603050405020304" pitchFamily="18" charset="0"/>
                <a:cs typeface="Times New Roman" panose="02020603050405020304" pitchFamily="18" charset="0"/>
              </a:rPr>
              <a:t>Provides real-time communication between sign language users and non-signers.</a:t>
            </a:r>
          </a:p>
        </p:txBody>
      </p:sp>
      <p:sp>
        <p:nvSpPr>
          <p:cNvPr id="9" name="Title 8">
            <a:extLst>
              <a:ext uri="{FF2B5EF4-FFF2-40B4-BE49-F238E27FC236}">
                <a16:creationId xmlns:a16="http://schemas.microsoft.com/office/drawing/2014/main" id="{3A0221A4-CD9A-0633-404A-9F82F16B3F2E}"/>
              </a:ext>
            </a:extLst>
          </p:cNvPr>
          <p:cNvSpPr>
            <a:spLocks noGrp="1"/>
          </p:cNvSpPr>
          <p:nvPr>
            <p:ph type="title"/>
          </p:nvPr>
        </p:nvSpPr>
        <p:spPr>
          <a:xfrm>
            <a:off x="1750142" y="365125"/>
            <a:ext cx="8695902" cy="1525201"/>
          </a:xfrm>
        </p:spPr>
        <p:txBody>
          <a:bodyPr>
            <a:normAutofit/>
          </a:bodyPr>
          <a:lstStyle/>
          <a:p>
            <a:pPr algn="ctr"/>
            <a:r>
              <a:rPr lang="en-US" dirty="0">
                <a:latin typeface="Times New Roman" panose="02020603050405020304" pitchFamily="18" charset="0"/>
                <a:cs typeface="Times New Roman" panose="02020603050405020304" pitchFamily="18" charset="0"/>
              </a:rPr>
              <a:t>MODULE 3</a:t>
            </a:r>
            <a:r>
              <a:rPr lang="en-US">
                <a:latin typeface="Times New Roman" panose="02020603050405020304" pitchFamily="18" charset="0"/>
                <a:cs typeface="Times New Roman" panose="02020603050405020304" pitchFamily="18" charset="0"/>
              </a:rPr>
              <a:t>: TRANSATION AND COMMUNICATION INTERFACE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0032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3872B-E6B0-4000-605D-CD0C7372E2D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328BD0CE-C1DE-86F1-2FF7-0B117F92D165}"/>
              </a:ext>
            </a:extLst>
          </p:cNvPr>
          <p:cNvSpPr/>
          <p:nvPr/>
        </p:nvSpPr>
        <p:spPr>
          <a:xfrm>
            <a:off x="76200" y="109571"/>
            <a:ext cx="12037142" cy="6611905"/>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object 2">
            <a:extLst>
              <a:ext uri="{FF2B5EF4-FFF2-40B4-BE49-F238E27FC236}">
                <a16:creationId xmlns:a16="http://schemas.microsoft.com/office/drawing/2014/main" id="{952B39E0-972C-71BB-ED67-AFC811F836D4}"/>
              </a:ext>
            </a:extLst>
          </p:cNvPr>
          <p:cNvPicPr/>
          <p:nvPr/>
        </p:nvPicPr>
        <p:blipFill>
          <a:blip r:embed="rId3" cstate="print"/>
          <a:stretch>
            <a:fillRect/>
          </a:stretch>
        </p:blipFill>
        <p:spPr>
          <a:xfrm>
            <a:off x="509607" y="368131"/>
            <a:ext cx="1156021" cy="1262483"/>
          </a:xfrm>
          <a:prstGeom prst="rect">
            <a:avLst/>
          </a:prstGeom>
        </p:spPr>
      </p:pic>
      <p:pic>
        <p:nvPicPr>
          <p:cNvPr id="3" name="object 3">
            <a:extLst>
              <a:ext uri="{FF2B5EF4-FFF2-40B4-BE49-F238E27FC236}">
                <a16:creationId xmlns:a16="http://schemas.microsoft.com/office/drawing/2014/main" id="{ACD14AF9-A8B5-D79A-6495-0457707272B2}"/>
              </a:ext>
            </a:extLst>
          </p:cNvPr>
          <p:cNvPicPr/>
          <p:nvPr/>
        </p:nvPicPr>
        <p:blipFill>
          <a:blip r:embed="rId4" cstate="print"/>
          <a:stretch>
            <a:fillRect/>
          </a:stretch>
        </p:blipFill>
        <p:spPr>
          <a:xfrm>
            <a:off x="10446044" y="442123"/>
            <a:ext cx="1236349" cy="1114501"/>
          </a:xfrm>
          <a:prstGeom prst="rect">
            <a:avLst/>
          </a:prstGeom>
        </p:spPr>
      </p:pic>
      <p:sp>
        <p:nvSpPr>
          <p:cNvPr id="9" name="Title 8">
            <a:extLst>
              <a:ext uri="{FF2B5EF4-FFF2-40B4-BE49-F238E27FC236}">
                <a16:creationId xmlns:a16="http://schemas.microsoft.com/office/drawing/2014/main" id="{E1050906-B003-95E4-20C4-D2BE2B1F646A}"/>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SYSTEM ARCHITECTURE</a:t>
            </a:r>
            <a:endParaRPr lang="en-IN"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7335723F-6AEC-AE17-5C42-46718F3371C9}"/>
              </a:ext>
            </a:extLst>
          </p:cNvPr>
          <p:cNvPicPr>
            <a:picLocks noChangeAspect="1"/>
          </p:cNvPicPr>
          <p:nvPr/>
        </p:nvPicPr>
        <p:blipFill>
          <a:blip r:embed="rId5"/>
          <a:stretch>
            <a:fillRect/>
          </a:stretch>
        </p:blipFill>
        <p:spPr>
          <a:xfrm>
            <a:off x="2445882" y="1375629"/>
            <a:ext cx="7671569" cy="5117246"/>
          </a:xfrm>
          <a:prstGeom prst="rect">
            <a:avLst/>
          </a:prstGeom>
        </p:spPr>
      </p:pic>
    </p:spTree>
    <p:extLst>
      <p:ext uri="{BB962C8B-B14F-4D97-AF65-F5344CB8AC3E}">
        <p14:creationId xmlns:p14="http://schemas.microsoft.com/office/powerpoint/2010/main" val="1609115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E155D-ED79-D3E8-0FCD-0E9DD1B4E31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835D9867-4018-D207-EFEC-1FB18A81DAD9}"/>
              </a:ext>
            </a:extLst>
          </p:cNvPr>
          <p:cNvSpPr/>
          <p:nvPr/>
        </p:nvSpPr>
        <p:spPr>
          <a:xfrm>
            <a:off x="76200" y="109571"/>
            <a:ext cx="12037142" cy="6611905"/>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object 2">
            <a:extLst>
              <a:ext uri="{FF2B5EF4-FFF2-40B4-BE49-F238E27FC236}">
                <a16:creationId xmlns:a16="http://schemas.microsoft.com/office/drawing/2014/main" id="{46FC0A66-FAEF-99ED-E8DC-18406DF14802}"/>
              </a:ext>
            </a:extLst>
          </p:cNvPr>
          <p:cNvPicPr/>
          <p:nvPr/>
        </p:nvPicPr>
        <p:blipFill>
          <a:blip r:embed="rId2" cstate="print"/>
          <a:stretch>
            <a:fillRect/>
          </a:stretch>
        </p:blipFill>
        <p:spPr>
          <a:xfrm>
            <a:off x="509607" y="368131"/>
            <a:ext cx="1156021" cy="1262483"/>
          </a:xfrm>
          <a:prstGeom prst="rect">
            <a:avLst/>
          </a:prstGeom>
        </p:spPr>
      </p:pic>
      <p:pic>
        <p:nvPicPr>
          <p:cNvPr id="3" name="object 3">
            <a:extLst>
              <a:ext uri="{FF2B5EF4-FFF2-40B4-BE49-F238E27FC236}">
                <a16:creationId xmlns:a16="http://schemas.microsoft.com/office/drawing/2014/main" id="{1ABC9599-047C-7F96-8A05-A405C4E20B18}"/>
              </a:ext>
            </a:extLst>
          </p:cNvPr>
          <p:cNvPicPr/>
          <p:nvPr/>
        </p:nvPicPr>
        <p:blipFill>
          <a:blip r:embed="rId3" cstate="print"/>
          <a:stretch>
            <a:fillRect/>
          </a:stretch>
        </p:blipFill>
        <p:spPr>
          <a:xfrm>
            <a:off x="10446044" y="442123"/>
            <a:ext cx="1236349" cy="1114501"/>
          </a:xfrm>
          <a:prstGeom prst="rect">
            <a:avLst/>
          </a:prstGeom>
        </p:spPr>
      </p:pic>
      <p:sp>
        <p:nvSpPr>
          <p:cNvPr id="5" name="object 5">
            <a:extLst>
              <a:ext uri="{FF2B5EF4-FFF2-40B4-BE49-F238E27FC236}">
                <a16:creationId xmlns:a16="http://schemas.microsoft.com/office/drawing/2014/main" id="{8F157E0E-6FB3-17A2-5A2D-838B68ED7677}"/>
              </a:ext>
            </a:extLst>
          </p:cNvPr>
          <p:cNvSpPr txBox="1"/>
          <p:nvPr/>
        </p:nvSpPr>
        <p:spPr>
          <a:xfrm>
            <a:off x="838201" y="1814821"/>
            <a:ext cx="9947786" cy="4324902"/>
          </a:xfrm>
          <a:prstGeom prst="rect">
            <a:avLst/>
          </a:prstGeom>
        </p:spPr>
        <p:txBody>
          <a:bodyPr vert="horz" wrap="square" lIns="0" tIns="92075" rIns="0" bIns="0" rtlCol="0">
            <a:spAutoFit/>
          </a:bodyPr>
          <a:lstStyle/>
          <a:p>
            <a:pPr marL="355600" indent="-342900" algn="just">
              <a:lnSpc>
                <a:spcPct val="100000"/>
              </a:lnSpc>
              <a:spcBef>
                <a:spcPts val="725"/>
              </a:spcBef>
              <a:buFont typeface="Wingdings" panose="05000000000000000000" pitchFamily="2" charset="2"/>
              <a:buChar char="Ø"/>
              <a:tabLst>
                <a:tab pos="309245" algn="l"/>
              </a:tabLst>
            </a:pPr>
            <a:endParaRPr lang="en-IN" sz="2000" dirty="0">
              <a:latin typeface="Times New Roman" panose="02020603050405020304" pitchFamily="18" charset="0"/>
              <a:cs typeface="Times New Roman" panose="02020603050405020304" pitchFamily="18" charset="0"/>
            </a:endParaRPr>
          </a:p>
          <a:p>
            <a:pPr marL="355600" indent="-3429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The system accurately detected hand landmarks and recognized sign language gestures using a deep learning model.</a:t>
            </a:r>
          </a:p>
          <a:p>
            <a:pPr marL="355600" indent="-3429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Real-time translation of recognized signs into readable text was successfully achieved.</a:t>
            </a:r>
          </a:p>
          <a:p>
            <a:pPr marL="355600" indent="-3429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Optional text-to-speech functionality converted translated text into natural voice output for improved accessibility.</a:t>
            </a:r>
          </a:p>
          <a:p>
            <a:pPr marL="355600" indent="-3429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The system provided smooth and responsive communication through continuous live gesture recognition.</a:t>
            </a:r>
          </a:p>
          <a:p>
            <a:pPr marL="355600" indent="-3429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The proposed solution demonstrated an affordable, contactless, and user-friendly approach to improving communication between sign language users and non-signers.</a:t>
            </a:r>
          </a:p>
          <a:p>
            <a:pPr marL="355600" indent="-3429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The AI Sign Language Translator was successfully implemented and evaluated under different hand gestures, lighting conditions, and user interactions.</a:t>
            </a:r>
            <a:endParaRPr lang="en-IN" sz="2000" spc="-10" dirty="0">
              <a:latin typeface="Times New Roman" panose="02020603050405020304" pitchFamily="18" charset="0"/>
              <a:cs typeface="Times New Roman" panose="02020603050405020304" pitchFamily="18" charset="0"/>
            </a:endParaRPr>
          </a:p>
        </p:txBody>
      </p:sp>
      <p:sp>
        <p:nvSpPr>
          <p:cNvPr id="9" name="Title 8">
            <a:extLst>
              <a:ext uri="{FF2B5EF4-FFF2-40B4-BE49-F238E27FC236}">
                <a16:creationId xmlns:a16="http://schemas.microsoft.com/office/drawing/2014/main" id="{705200E7-9B15-3762-954C-7D3DA0153D64}"/>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RESULTS</a:t>
            </a:r>
            <a:endParaRPr lang="en-IN" dirty="0">
              <a:latin typeface="Times New Roman" panose="02020603050405020304" pitchFamily="18" charset="0"/>
              <a:cs typeface="Times New Roman" panose="02020603050405020304" pitchFamily="18" charset="0"/>
            </a:endParaRPr>
          </a:p>
        </p:txBody>
      </p:sp>
      <p:sp>
        <p:nvSpPr>
          <p:cNvPr id="8" name="object 5">
            <a:extLst>
              <a:ext uri="{FF2B5EF4-FFF2-40B4-BE49-F238E27FC236}">
                <a16:creationId xmlns:a16="http://schemas.microsoft.com/office/drawing/2014/main" id="{66129F46-7E6F-FB18-9D0A-71348FB413EF}"/>
              </a:ext>
            </a:extLst>
          </p:cNvPr>
          <p:cNvSpPr txBox="1"/>
          <p:nvPr/>
        </p:nvSpPr>
        <p:spPr>
          <a:xfrm>
            <a:off x="509606" y="1591978"/>
            <a:ext cx="11308767" cy="708527"/>
          </a:xfrm>
          <a:prstGeom prst="rect">
            <a:avLst/>
          </a:prstGeom>
        </p:spPr>
        <p:txBody>
          <a:bodyPr vert="horz" wrap="square" lIns="0" tIns="92075" rIns="0" bIns="0" rtlCol="0">
            <a:spAutoFit/>
          </a:bodyPr>
          <a:lstStyle/>
          <a:p>
            <a:r>
              <a:rPr lang="en-IN" sz="2000" b="1" dirty="0">
                <a:latin typeface="Times New Roman" panose="02020603050405020304" pitchFamily="18" charset="0"/>
                <a:cs typeface="Times New Roman" panose="02020603050405020304" pitchFamily="18" charset="0"/>
              </a:rPr>
              <a:t>The AI Sign Language Translator was successfully developed and tested using a standard webcam for real-time gesture recognition.</a:t>
            </a:r>
          </a:p>
        </p:txBody>
      </p:sp>
    </p:spTree>
    <p:extLst>
      <p:ext uri="{BB962C8B-B14F-4D97-AF65-F5344CB8AC3E}">
        <p14:creationId xmlns:p14="http://schemas.microsoft.com/office/powerpoint/2010/main" val="2878462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928D8-7975-C4FC-3EEE-1BF31660B92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E24687C-D8A8-BA8E-98A9-8DDEF5B7D46B}"/>
              </a:ext>
            </a:extLst>
          </p:cNvPr>
          <p:cNvSpPr/>
          <p:nvPr/>
        </p:nvSpPr>
        <p:spPr>
          <a:xfrm>
            <a:off x="76200" y="109571"/>
            <a:ext cx="12037142" cy="6611905"/>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object 2">
            <a:extLst>
              <a:ext uri="{FF2B5EF4-FFF2-40B4-BE49-F238E27FC236}">
                <a16:creationId xmlns:a16="http://schemas.microsoft.com/office/drawing/2014/main" id="{0591FA6B-7518-E51E-A8B5-4D164BC0C8CB}"/>
              </a:ext>
            </a:extLst>
          </p:cNvPr>
          <p:cNvPicPr/>
          <p:nvPr/>
        </p:nvPicPr>
        <p:blipFill>
          <a:blip r:embed="rId2" cstate="print"/>
          <a:stretch>
            <a:fillRect/>
          </a:stretch>
        </p:blipFill>
        <p:spPr>
          <a:xfrm>
            <a:off x="509607" y="368131"/>
            <a:ext cx="1156021" cy="1262483"/>
          </a:xfrm>
          <a:prstGeom prst="rect">
            <a:avLst/>
          </a:prstGeom>
        </p:spPr>
      </p:pic>
      <p:pic>
        <p:nvPicPr>
          <p:cNvPr id="3" name="object 3">
            <a:extLst>
              <a:ext uri="{FF2B5EF4-FFF2-40B4-BE49-F238E27FC236}">
                <a16:creationId xmlns:a16="http://schemas.microsoft.com/office/drawing/2014/main" id="{7E660132-CB46-5AB1-F844-CD4DF4584623}"/>
              </a:ext>
            </a:extLst>
          </p:cNvPr>
          <p:cNvPicPr/>
          <p:nvPr/>
        </p:nvPicPr>
        <p:blipFill>
          <a:blip r:embed="rId3" cstate="print"/>
          <a:stretch>
            <a:fillRect/>
          </a:stretch>
        </p:blipFill>
        <p:spPr>
          <a:xfrm>
            <a:off x="10446044" y="442123"/>
            <a:ext cx="1236349" cy="1114501"/>
          </a:xfrm>
          <a:prstGeom prst="rect">
            <a:avLst/>
          </a:prstGeom>
        </p:spPr>
      </p:pic>
      <p:sp>
        <p:nvSpPr>
          <p:cNvPr id="9" name="Title 8">
            <a:extLst>
              <a:ext uri="{FF2B5EF4-FFF2-40B4-BE49-F238E27FC236}">
                <a16:creationId xmlns:a16="http://schemas.microsoft.com/office/drawing/2014/main" id="{E60308B7-418B-26A6-69CA-8495557050E8}"/>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FUTURE ENHANCEMENTS</a:t>
            </a:r>
            <a:endParaRPr lang="en-IN" dirty="0">
              <a:latin typeface="Times New Roman" panose="02020603050405020304" pitchFamily="18" charset="0"/>
              <a:cs typeface="Times New Roman" panose="02020603050405020304" pitchFamily="18" charset="0"/>
            </a:endParaRPr>
          </a:p>
        </p:txBody>
      </p:sp>
      <p:sp>
        <p:nvSpPr>
          <p:cNvPr id="5" name="object 5">
            <a:extLst>
              <a:ext uri="{FF2B5EF4-FFF2-40B4-BE49-F238E27FC236}">
                <a16:creationId xmlns:a16="http://schemas.microsoft.com/office/drawing/2014/main" id="{289EB347-7E94-FB1B-73CE-2C3B483A7FC3}"/>
              </a:ext>
            </a:extLst>
          </p:cNvPr>
          <p:cNvSpPr txBox="1"/>
          <p:nvPr/>
        </p:nvSpPr>
        <p:spPr>
          <a:xfrm>
            <a:off x="838199" y="2168782"/>
            <a:ext cx="10616382" cy="3529812"/>
          </a:xfrm>
          <a:prstGeom prst="rect">
            <a:avLst/>
          </a:prstGeom>
        </p:spPr>
        <p:txBody>
          <a:bodyPr vert="horz" wrap="square" lIns="0" tIns="92075" rIns="0" bIns="0" rtlCol="0">
            <a:spAutoFit/>
          </a:bodyPr>
          <a:lstStyle/>
          <a:p>
            <a:pPr marL="469900" indent="-4572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Support recognition of </a:t>
            </a:r>
            <a:r>
              <a:rPr lang="en-IN" sz="2000" b="1" dirty="0">
                <a:latin typeface="Times New Roman" panose="02020603050405020304" pitchFamily="18" charset="0"/>
                <a:cs typeface="Times New Roman" panose="02020603050405020304" pitchFamily="18" charset="0"/>
              </a:rPr>
              <a:t>continuous sign language sentences</a:t>
            </a:r>
            <a:r>
              <a:rPr lang="en-IN" sz="2000" dirty="0">
                <a:latin typeface="Times New Roman" panose="02020603050405020304" pitchFamily="18" charset="0"/>
                <a:cs typeface="Times New Roman" panose="02020603050405020304" pitchFamily="18" charset="0"/>
              </a:rPr>
              <a:t> instead of individual letters or words using Transformer-based sequence models. </a:t>
            </a:r>
          </a:p>
          <a:p>
            <a:pPr marL="469900" indent="-4572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Develop a </a:t>
            </a:r>
            <a:r>
              <a:rPr lang="en-IN" sz="2000" b="1" dirty="0">
                <a:latin typeface="Times New Roman" panose="02020603050405020304" pitchFamily="18" charset="0"/>
                <a:cs typeface="Times New Roman" panose="02020603050405020304" pitchFamily="18" charset="0"/>
              </a:rPr>
              <a:t>mobile application</a:t>
            </a:r>
            <a:r>
              <a:rPr lang="en-IN" sz="2000" dirty="0">
                <a:latin typeface="Times New Roman" panose="02020603050405020304" pitchFamily="18" charset="0"/>
                <a:cs typeface="Times New Roman" panose="02020603050405020304" pitchFamily="18" charset="0"/>
              </a:rPr>
              <a:t> for Android and iOS to enable sign language translation anywhere using a smartphone camera.</a:t>
            </a:r>
          </a:p>
          <a:p>
            <a:pPr marL="469900" indent="-4572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Integrate </a:t>
            </a:r>
            <a:r>
              <a:rPr lang="en-IN" sz="2000" b="1" dirty="0">
                <a:latin typeface="Times New Roman" panose="02020603050405020304" pitchFamily="18" charset="0"/>
                <a:cs typeface="Times New Roman" panose="02020603050405020304" pitchFamily="18" charset="0"/>
              </a:rPr>
              <a:t>multilingual translation</a:t>
            </a:r>
            <a:r>
              <a:rPr lang="en-IN" sz="2000" dirty="0">
                <a:latin typeface="Times New Roman" panose="02020603050405020304" pitchFamily="18" charset="0"/>
                <a:cs typeface="Times New Roman" panose="02020603050405020304" pitchFamily="18" charset="0"/>
              </a:rPr>
              <a:t>, allowing recognized signs to be converted into multiple spoken and written languages.</a:t>
            </a:r>
          </a:p>
          <a:p>
            <a:pPr marL="469900" indent="-4572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Expand the gesture database to include </a:t>
            </a:r>
            <a:r>
              <a:rPr lang="en-IN" sz="2000" b="1" dirty="0">
                <a:latin typeface="Times New Roman" panose="02020603050405020304" pitchFamily="18" charset="0"/>
                <a:cs typeface="Times New Roman" panose="02020603050405020304" pitchFamily="18" charset="0"/>
              </a:rPr>
              <a:t>regional and international sign languages</a:t>
            </a:r>
            <a:r>
              <a:rPr lang="en-IN" sz="2000" dirty="0">
                <a:latin typeface="Times New Roman" panose="02020603050405020304" pitchFamily="18" charset="0"/>
                <a:cs typeface="Times New Roman" panose="02020603050405020304" pitchFamily="18" charset="0"/>
              </a:rPr>
              <a:t>, improving the system's versatility and accessibility. </a:t>
            </a:r>
          </a:p>
          <a:p>
            <a:pPr marL="469900" indent="-4572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Enhance the deep learning model with advanced architectures and larger datasets to improve recognition accuracy under varying lighting conditions, backgrounds, and hand orientations.</a:t>
            </a:r>
            <a:endParaRPr lang="en-IN" sz="2000" b="1" spc="-1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363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C9864-B20A-8537-3846-42D7F2574A5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DA76306-B290-6D3F-C56E-40DF984C38DA}"/>
              </a:ext>
            </a:extLst>
          </p:cNvPr>
          <p:cNvSpPr/>
          <p:nvPr/>
        </p:nvSpPr>
        <p:spPr>
          <a:xfrm>
            <a:off x="76200" y="109571"/>
            <a:ext cx="12037142" cy="6611905"/>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object 2">
            <a:extLst>
              <a:ext uri="{FF2B5EF4-FFF2-40B4-BE49-F238E27FC236}">
                <a16:creationId xmlns:a16="http://schemas.microsoft.com/office/drawing/2014/main" id="{B126CDCC-6C55-83BF-DDF7-8FD0300DEA91}"/>
              </a:ext>
            </a:extLst>
          </p:cNvPr>
          <p:cNvPicPr/>
          <p:nvPr/>
        </p:nvPicPr>
        <p:blipFill>
          <a:blip r:embed="rId2" cstate="print"/>
          <a:stretch>
            <a:fillRect/>
          </a:stretch>
        </p:blipFill>
        <p:spPr>
          <a:xfrm>
            <a:off x="509607" y="368131"/>
            <a:ext cx="1156021" cy="1262483"/>
          </a:xfrm>
          <a:prstGeom prst="rect">
            <a:avLst/>
          </a:prstGeom>
        </p:spPr>
      </p:pic>
      <p:pic>
        <p:nvPicPr>
          <p:cNvPr id="3" name="object 3">
            <a:extLst>
              <a:ext uri="{FF2B5EF4-FFF2-40B4-BE49-F238E27FC236}">
                <a16:creationId xmlns:a16="http://schemas.microsoft.com/office/drawing/2014/main" id="{8E4EA5B7-DCAB-9865-D4DE-15E50850D3F8}"/>
              </a:ext>
            </a:extLst>
          </p:cNvPr>
          <p:cNvPicPr/>
          <p:nvPr/>
        </p:nvPicPr>
        <p:blipFill>
          <a:blip r:embed="rId3" cstate="print"/>
          <a:stretch>
            <a:fillRect/>
          </a:stretch>
        </p:blipFill>
        <p:spPr>
          <a:xfrm>
            <a:off x="10446044" y="442123"/>
            <a:ext cx="1236349" cy="1114501"/>
          </a:xfrm>
          <a:prstGeom prst="rect">
            <a:avLst/>
          </a:prstGeom>
        </p:spPr>
      </p:pic>
      <p:sp>
        <p:nvSpPr>
          <p:cNvPr id="9" name="Title 8">
            <a:extLst>
              <a:ext uri="{FF2B5EF4-FFF2-40B4-BE49-F238E27FC236}">
                <a16:creationId xmlns:a16="http://schemas.microsoft.com/office/drawing/2014/main" id="{E3BECDB1-AE2D-F16E-E549-86DE6AE61185}"/>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5" name="object 5">
            <a:extLst>
              <a:ext uri="{FF2B5EF4-FFF2-40B4-BE49-F238E27FC236}">
                <a16:creationId xmlns:a16="http://schemas.microsoft.com/office/drawing/2014/main" id="{A087E0F1-EE08-063A-1AC9-271FB234EEDE}"/>
              </a:ext>
            </a:extLst>
          </p:cNvPr>
          <p:cNvSpPr txBox="1"/>
          <p:nvPr/>
        </p:nvSpPr>
        <p:spPr>
          <a:xfrm>
            <a:off x="838200" y="2168782"/>
            <a:ext cx="10515600" cy="3311804"/>
          </a:xfrm>
          <a:prstGeom prst="rect">
            <a:avLst/>
          </a:prstGeom>
        </p:spPr>
        <p:txBody>
          <a:bodyPr vert="horz" wrap="square" lIns="0" tIns="92075" rIns="0" bIns="0" rtlCol="0">
            <a:spAutoFit/>
          </a:bodyPr>
          <a:lstStyle/>
          <a:p>
            <a:pPr marL="469900" indent="-4572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Enables real-time communication between sign language users and non-signers through artificial intelligence.</a:t>
            </a:r>
          </a:p>
          <a:p>
            <a:pPr marL="469900" indent="-4572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Accurately recognizes hand gestures using deep learning and computer vision techniques.</a:t>
            </a:r>
          </a:p>
          <a:p>
            <a:pPr marL="469900" indent="-4572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Converts sign language gestures into readable text and optional speech output instantly. </a:t>
            </a:r>
          </a:p>
          <a:p>
            <a:pPr marL="469900" indent="-4572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Eliminates the need for expensive specialized equipment by utilizing a standard webcam.</a:t>
            </a:r>
          </a:p>
          <a:p>
            <a:pPr marL="469900" indent="-4572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Demonstrates the practical application of deep learning in improving accessibility and inclusive communication.</a:t>
            </a:r>
          </a:p>
          <a:p>
            <a:pPr marL="469900" indent="-457200" algn="just">
              <a:lnSpc>
                <a:spcPct val="100000"/>
              </a:lnSpc>
              <a:spcBef>
                <a:spcPts val="725"/>
              </a:spcBef>
              <a:buFont typeface="Wingdings" panose="05000000000000000000" pitchFamily="2" charset="2"/>
              <a:buChar char="Ø"/>
              <a:tabLst>
                <a:tab pos="309245" algn="l"/>
              </a:tabLst>
            </a:pPr>
            <a:r>
              <a:rPr lang="en-IN" sz="2000" dirty="0">
                <a:latin typeface="Times New Roman" panose="02020603050405020304" pitchFamily="18" charset="0"/>
                <a:cs typeface="Times New Roman" panose="02020603050405020304" pitchFamily="18" charset="0"/>
              </a:rPr>
              <a:t>Provides an affordable, accurate, and user-friendly solution for bridging communication barriers in everyday life.</a:t>
            </a:r>
            <a:endParaRPr lang="en-IN" sz="2000" b="1" spc="-1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9736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7FA25-B418-0CF8-31DF-867DFF13CAF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75E2F637-0940-5959-3372-D4FED521619B}"/>
              </a:ext>
            </a:extLst>
          </p:cNvPr>
          <p:cNvSpPr/>
          <p:nvPr/>
        </p:nvSpPr>
        <p:spPr>
          <a:xfrm>
            <a:off x="76200" y="109571"/>
            <a:ext cx="12037142" cy="6611905"/>
          </a:xfrm>
          <a:prstGeom prst="rect">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object 2">
            <a:extLst>
              <a:ext uri="{FF2B5EF4-FFF2-40B4-BE49-F238E27FC236}">
                <a16:creationId xmlns:a16="http://schemas.microsoft.com/office/drawing/2014/main" id="{3C499712-0DD9-F161-E236-AB4AC6BDCD61}"/>
              </a:ext>
            </a:extLst>
          </p:cNvPr>
          <p:cNvPicPr/>
          <p:nvPr/>
        </p:nvPicPr>
        <p:blipFill>
          <a:blip r:embed="rId2" cstate="print"/>
          <a:stretch>
            <a:fillRect/>
          </a:stretch>
        </p:blipFill>
        <p:spPr>
          <a:xfrm>
            <a:off x="509607" y="368131"/>
            <a:ext cx="1156021" cy="1262483"/>
          </a:xfrm>
          <a:prstGeom prst="rect">
            <a:avLst/>
          </a:prstGeom>
        </p:spPr>
      </p:pic>
      <p:pic>
        <p:nvPicPr>
          <p:cNvPr id="3" name="object 3">
            <a:extLst>
              <a:ext uri="{FF2B5EF4-FFF2-40B4-BE49-F238E27FC236}">
                <a16:creationId xmlns:a16="http://schemas.microsoft.com/office/drawing/2014/main" id="{0E41FA17-48ED-E894-42BC-5EA879819478}"/>
              </a:ext>
            </a:extLst>
          </p:cNvPr>
          <p:cNvPicPr/>
          <p:nvPr/>
        </p:nvPicPr>
        <p:blipFill>
          <a:blip r:embed="rId3" cstate="print"/>
          <a:stretch>
            <a:fillRect/>
          </a:stretch>
        </p:blipFill>
        <p:spPr>
          <a:xfrm>
            <a:off x="10446044" y="442123"/>
            <a:ext cx="1236349" cy="1114501"/>
          </a:xfrm>
          <a:prstGeom prst="rect">
            <a:avLst/>
          </a:prstGeom>
        </p:spPr>
      </p:pic>
      <p:sp>
        <p:nvSpPr>
          <p:cNvPr id="9" name="Title 8">
            <a:extLst>
              <a:ext uri="{FF2B5EF4-FFF2-40B4-BE49-F238E27FC236}">
                <a16:creationId xmlns:a16="http://schemas.microsoft.com/office/drawing/2014/main" id="{1718BCD4-3336-C58C-F7DE-C2E9E145C531}"/>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762987FA-0B2E-46D6-3D95-25619E48705F}"/>
              </a:ext>
            </a:extLst>
          </p:cNvPr>
          <p:cNvSpPr>
            <a:spLocks noChangeArrowheads="1"/>
          </p:cNvSpPr>
          <p:nvPr/>
        </p:nvSpPr>
        <p:spPr bwMode="auto">
          <a:xfrm>
            <a:off x="580103" y="2196951"/>
            <a:ext cx="11316929"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spcBef>
                <a:spcPct val="0"/>
              </a:spcBef>
              <a:spcAft>
                <a:spcPct val="0"/>
              </a:spcAft>
              <a:buFont typeface="+mj-lt"/>
              <a:buAutoNum type="arabicPeriod"/>
            </a:pPr>
            <a:r>
              <a:rPr lang="en-IN" sz="2000" dirty="0">
                <a:latin typeface="Times New Roman" panose="02020603050405020304" pitchFamily="18" charset="0"/>
                <a:cs typeface="Times New Roman" panose="02020603050405020304" pitchFamily="18" charset="0"/>
              </a:rPr>
              <a:t>Zhang, Y., &amp; Jiang, H. (2024). </a:t>
            </a:r>
            <a:r>
              <a:rPr lang="en-IN" sz="2000" i="1" dirty="0">
                <a:latin typeface="Times New Roman" panose="02020603050405020304" pitchFamily="18" charset="0"/>
                <a:cs typeface="Times New Roman" panose="02020603050405020304" pitchFamily="18" charset="0"/>
              </a:rPr>
              <a:t>Recent Advances on Deep Learning for Sign Language Recognition</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Computer </a:t>
            </a:r>
            <a:r>
              <a:rPr lang="en-IN" sz="2000" b="1" dirty="0" err="1">
                <a:latin typeface="Times New Roman" panose="02020603050405020304" pitchFamily="18" charset="0"/>
                <a:cs typeface="Times New Roman" panose="02020603050405020304" pitchFamily="18" charset="0"/>
              </a:rPr>
              <a:t>Modeling</a:t>
            </a:r>
            <a:r>
              <a:rPr lang="en-IN" sz="2000" b="1" dirty="0">
                <a:latin typeface="Times New Roman" panose="02020603050405020304" pitchFamily="18" charset="0"/>
                <a:cs typeface="Times New Roman" panose="02020603050405020304" pitchFamily="18" charset="0"/>
              </a:rPr>
              <a:t> in Engineering &amp; Sciences, 139</a:t>
            </a:r>
            <a:r>
              <a:rPr lang="en-IN" sz="2000" dirty="0">
                <a:latin typeface="Times New Roman" panose="02020603050405020304" pitchFamily="18" charset="0"/>
                <a:cs typeface="Times New Roman" panose="02020603050405020304" pitchFamily="18" charset="0"/>
              </a:rPr>
              <a:t>(3), 2399–2450. </a:t>
            </a:r>
          </a:p>
          <a:p>
            <a:pPr marL="457200" lvl="0" indent="-457200" eaLnBrk="0" fontAlgn="base" hangingPunct="0">
              <a:spcBef>
                <a:spcPct val="0"/>
              </a:spcBef>
              <a:spcAft>
                <a:spcPct val="0"/>
              </a:spcAft>
              <a:buFont typeface="+mj-lt"/>
              <a:buAutoNum type="arabicPeriod"/>
            </a:pPr>
            <a:r>
              <a:rPr lang="en-IN" sz="2000" dirty="0" err="1">
                <a:latin typeface="Times New Roman" panose="02020603050405020304" pitchFamily="18" charset="0"/>
                <a:cs typeface="Times New Roman" panose="02020603050405020304" pitchFamily="18" charset="0"/>
              </a:rPr>
              <a:t>Baihan</a:t>
            </a:r>
            <a:r>
              <a:rPr lang="en-IN" sz="2000" dirty="0">
                <a:latin typeface="Times New Roman" panose="02020603050405020304" pitchFamily="18" charset="0"/>
                <a:cs typeface="Times New Roman" panose="02020603050405020304" pitchFamily="18" charset="0"/>
              </a:rPr>
              <a:t>, A., </a:t>
            </a:r>
            <a:r>
              <a:rPr lang="en-IN" sz="2000" dirty="0" err="1">
                <a:latin typeface="Times New Roman" panose="02020603050405020304" pitchFamily="18" charset="0"/>
                <a:cs typeface="Times New Roman" panose="02020603050405020304" pitchFamily="18" charset="0"/>
              </a:rPr>
              <a:t>Alutaibi</a:t>
            </a:r>
            <a:r>
              <a:rPr lang="en-IN" sz="2000" dirty="0">
                <a:latin typeface="Times New Roman" panose="02020603050405020304" pitchFamily="18" charset="0"/>
                <a:cs typeface="Times New Roman" panose="02020603050405020304" pitchFamily="18" charset="0"/>
              </a:rPr>
              <a:t>, A. I., Alshehri, M., et al. (2024). </a:t>
            </a:r>
            <a:r>
              <a:rPr lang="en-IN" sz="2000" i="1" dirty="0">
                <a:latin typeface="Times New Roman" panose="02020603050405020304" pitchFamily="18" charset="0"/>
                <a:cs typeface="Times New Roman" panose="02020603050405020304" pitchFamily="18" charset="0"/>
              </a:rPr>
              <a:t>Sign language recognition using modified deep learning network and hybrid optimization: A hybrid optimizer (HO)-based optimized </a:t>
            </a:r>
            <a:r>
              <a:rPr lang="en-IN" sz="2000" i="1" dirty="0" err="1">
                <a:latin typeface="Times New Roman" panose="02020603050405020304" pitchFamily="18" charset="0"/>
                <a:cs typeface="Times New Roman" panose="02020603050405020304" pitchFamily="18" charset="0"/>
              </a:rPr>
              <a:t>CNNSa</a:t>
            </a:r>
            <a:r>
              <a:rPr lang="en-IN" sz="2000" i="1" dirty="0">
                <a:latin typeface="Times New Roman" panose="02020603050405020304" pitchFamily="18" charset="0"/>
                <a:cs typeface="Times New Roman" panose="02020603050405020304" pitchFamily="18" charset="0"/>
              </a:rPr>
              <a:t>-LSTM approach</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Scientific Reports, 14</a:t>
            </a:r>
            <a:r>
              <a:rPr lang="en-IN" sz="2000" dirty="0">
                <a:latin typeface="Times New Roman" panose="02020603050405020304" pitchFamily="18" charset="0"/>
                <a:cs typeface="Times New Roman" panose="02020603050405020304" pitchFamily="18" charset="0"/>
              </a:rPr>
              <a:t>, Article 26111.</a:t>
            </a:r>
          </a:p>
          <a:p>
            <a:pPr marL="457200" lvl="0" indent="-457200" eaLnBrk="0" fontAlgn="base" hangingPunct="0">
              <a:spcBef>
                <a:spcPct val="0"/>
              </a:spcBef>
              <a:spcAft>
                <a:spcPct val="0"/>
              </a:spcAft>
              <a:buFont typeface="+mj-lt"/>
              <a:buAutoNum type="arabicPeriod"/>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Bhadouria</a:t>
            </a:r>
            <a:r>
              <a:rPr lang="en-IN" sz="2000" dirty="0">
                <a:latin typeface="Times New Roman" panose="02020603050405020304" pitchFamily="18" charset="0"/>
                <a:cs typeface="Times New Roman" panose="02020603050405020304" pitchFamily="18" charset="0"/>
              </a:rPr>
              <a:t>, A., Bindal, P., Khare, N., Singh, D., &amp; Verma, A. (2024). </a:t>
            </a:r>
            <a:r>
              <a:rPr lang="en-IN" sz="2000" i="1" dirty="0">
                <a:latin typeface="Times New Roman" panose="02020603050405020304" pitchFamily="18" charset="0"/>
                <a:cs typeface="Times New Roman" panose="02020603050405020304" pitchFamily="18" charset="0"/>
              </a:rPr>
              <a:t>LSTM-Based Recognition of Sign Language</a:t>
            </a:r>
            <a:r>
              <a:rPr lang="en-IN" sz="2000" dirty="0">
                <a:latin typeface="Times New Roman" panose="02020603050405020304" pitchFamily="18" charset="0"/>
                <a:cs typeface="Times New Roman" panose="02020603050405020304" pitchFamily="18" charset="0"/>
              </a:rPr>
              <a:t>. In </a:t>
            </a:r>
            <a:r>
              <a:rPr lang="en-IN" sz="2000" b="1" dirty="0">
                <a:latin typeface="Times New Roman" panose="02020603050405020304" pitchFamily="18" charset="0"/>
                <a:cs typeface="Times New Roman" panose="02020603050405020304" pitchFamily="18" charset="0"/>
              </a:rPr>
              <a:t>Proceedings of the 16th International Conference on Contemporary Computing (IC3 2024)</a:t>
            </a:r>
            <a:r>
              <a:rPr lang="en-IN" sz="2000" dirty="0">
                <a:latin typeface="Times New Roman" panose="02020603050405020304" pitchFamily="18" charset="0"/>
                <a:cs typeface="Times New Roman" panose="02020603050405020304" pitchFamily="18" charset="0"/>
              </a:rPr>
              <a:t> (pp. 508–514).</a:t>
            </a:r>
          </a:p>
          <a:p>
            <a:pPr marL="457200" lvl="0" indent="-457200" eaLnBrk="0" fontAlgn="base" hangingPunct="0">
              <a:spcBef>
                <a:spcPct val="0"/>
              </a:spcBef>
              <a:spcAft>
                <a:spcPct val="0"/>
              </a:spcAft>
              <a:buFont typeface="+mj-lt"/>
              <a:buAutoNum type="arabicPeriod"/>
            </a:pPr>
            <a:r>
              <a:rPr lang="en-IN" sz="2000" dirty="0">
                <a:latin typeface="Times New Roman" panose="02020603050405020304" pitchFamily="18" charset="0"/>
                <a:cs typeface="Times New Roman" panose="02020603050405020304" pitchFamily="18" charset="0"/>
              </a:rPr>
              <a:t> Abd Al-Latief, S. T., Yussof, S., Ahmad, A., &amp; Khadim, S. (2024). </a:t>
            </a:r>
            <a:r>
              <a:rPr lang="en-IN" sz="2000" i="1" dirty="0">
                <a:latin typeface="Times New Roman" panose="02020603050405020304" pitchFamily="18" charset="0"/>
                <a:cs typeface="Times New Roman" panose="02020603050405020304" pitchFamily="18" charset="0"/>
              </a:rPr>
              <a:t>Deep Learning for Sign Language Recognition: A Comparative Review</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Journal of Smart Internet of Things</a:t>
            </a:r>
            <a:r>
              <a:rPr lang="en-IN" sz="2000" dirty="0">
                <a:latin typeface="Times New Roman" panose="02020603050405020304" pitchFamily="18" charset="0"/>
                <a:cs typeface="Times New Roman" panose="02020603050405020304" pitchFamily="18" charset="0"/>
              </a:rPr>
              <a:t>, 2024(1), 77–116.</a:t>
            </a:r>
          </a:p>
          <a:p>
            <a:pPr marL="457200" lvl="0" indent="-457200" eaLnBrk="0" fontAlgn="base" hangingPunct="0">
              <a:spcBef>
                <a:spcPct val="0"/>
              </a:spcBef>
              <a:spcAft>
                <a:spcPct val="0"/>
              </a:spcAft>
              <a:buFont typeface="+mj-lt"/>
              <a:buAutoNum type="arabicPeriod"/>
            </a:pPr>
            <a:r>
              <a:rPr lang="en-IN" sz="2000" dirty="0">
                <a:latin typeface="Times New Roman" panose="02020603050405020304" pitchFamily="18" charset="0"/>
                <a:cs typeface="Times New Roman" panose="02020603050405020304" pitchFamily="18" charset="0"/>
              </a:rPr>
              <a:t> Taher, H. A., &amp; </a:t>
            </a:r>
            <a:r>
              <a:rPr lang="en-IN" sz="2000" dirty="0" err="1">
                <a:latin typeface="Times New Roman" panose="02020603050405020304" pitchFamily="18" charset="0"/>
                <a:cs typeface="Times New Roman" panose="02020603050405020304" pitchFamily="18" charset="0"/>
              </a:rPr>
              <a:t>Zeebaree</a:t>
            </a:r>
            <a:r>
              <a:rPr lang="en-IN" sz="2000" dirty="0">
                <a:latin typeface="Times New Roman" panose="02020603050405020304" pitchFamily="18" charset="0"/>
                <a:cs typeface="Times New Roman" panose="02020603050405020304" pitchFamily="18" charset="0"/>
              </a:rPr>
              <a:t>, S. R. (2025). </a:t>
            </a:r>
            <a:r>
              <a:rPr lang="en-IN" sz="2000" i="1" dirty="0">
                <a:latin typeface="Times New Roman" panose="02020603050405020304" pitchFamily="18" charset="0"/>
                <a:cs typeface="Times New Roman" panose="02020603050405020304" pitchFamily="18" charset="0"/>
              </a:rPr>
              <a:t>A Critical Study of Recent Deep Learning-Based Continuous Sign Language Recognition</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The Review of </a:t>
            </a:r>
            <a:r>
              <a:rPr lang="en-IN" sz="2000" b="1" dirty="0" err="1">
                <a:latin typeface="Times New Roman" panose="02020603050405020304" pitchFamily="18" charset="0"/>
                <a:cs typeface="Times New Roman" panose="02020603050405020304" pitchFamily="18" charset="0"/>
              </a:rPr>
              <a:t>Socionetwork</a:t>
            </a:r>
            <a:r>
              <a:rPr lang="en-IN" sz="2000" b="1" dirty="0">
                <a:latin typeface="Times New Roman" panose="02020603050405020304" pitchFamily="18" charset="0"/>
                <a:cs typeface="Times New Roman" panose="02020603050405020304" pitchFamily="18" charset="0"/>
              </a:rPr>
              <a:t> Strategies, 19</a:t>
            </a:r>
            <a:r>
              <a:rPr lang="en-IN" sz="2000" dirty="0">
                <a:latin typeface="Times New Roman" panose="02020603050405020304" pitchFamily="18" charset="0"/>
                <a:cs typeface="Times New Roman" panose="02020603050405020304" pitchFamily="18" charset="0"/>
              </a:rPr>
              <a:t>(1), 131–161.</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5271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9730900-7725-2285-AE8D-081A2ACF0FAC}"/>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8527317-8476-492F-2D52-9B3164AA654E}"/>
              </a:ext>
            </a:extLst>
          </p:cNvPr>
          <p:cNvSpPr/>
          <p:nvPr/>
        </p:nvSpPr>
        <p:spPr>
          <a:xfrm>
            <a:off x="76200" y="109571"/>
            <a:ext cx="12037142" cy="6611905"/>
          </a:xfrm>
          <a:prstGeom prst="rect">
            <a:avLst/>
          </a:prstGeom>
          <a:no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itle 8">
            <a:extLst>
              <a:ext uri="{FF2B5EF4-FFF2-40B4-BE49-F238E27FC236}">
                <a16:creationId xmlns:a16="http://schemas.microsoft.com/office/drawing/2014/main" id="{D01BBC9E-565A-9841-4020-7846546F8E3F}"/>
              </a:ext>
            </a:extLst>
          </p:cNvPr>
          <p:cNvSpPr>
            <a:spLocks noGrp="1"/>
          </p:cNvSpPr>
          <p:nvPr>
            <p:ph type="title"/>
          </p:nvPr>
        </p:nvSpPr>
        <p:spPr>
          <a:xfrm>
            <a:off x="836971" y="2752741"/>
            <a:ext cx="10515600" cy="1325563"/>
          </a:xfrm>
        </p:spPr>
        <p:txBody>
          <a:bodyPr>
            <a:normAutofit/>
          </a:bodyPr>
          <a:lstStyle/>
          <a:p>
            <a:pPr algn="ctr"/>
            <a:r>
              <a:rPr lang="en-US" sz="8800" dirty="0">
                <a:solidFill>
                  <a:schemeClr val="bg1"/>
                </a:solidFill>
                <a:latin typeface="Times New Roman" panose="02020603050405020304" pitchFamily="18" charset="0"/>
                <a:cs typeface="Times New Roman" panose="02020603050405020304" pitchFamily="18" charset="0"/>
              </a:rPr>
              <a:t>THANK YOU !</a:t>
            </a:r>
            <a:endParaRPr lang="en-IN" sz="8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1746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1377</Words>
  <Application>Microsoft Office PowerPoint</Application>
  <PresentationFormat>Widescreen</PresentationFormat>
  <Paragraphs>119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Times New Roman</vt:lpstr>
      <vt:lpstr>Wingdings</vt:lpstr>
      <vt:lpstr>Office Theme</vt:lpstr>
      <vt:lpstr>AI Driven Sign Language Interpreter Using Deep Learning and Real-time Hand Gesture Recognition</vt:lpstr>
      <vt:lpstr>ABSTRACT</vt:lpstr>
      <vt:lpstr>INTRODUCTION</vt:lpstr>
      <vt:lpstr>PROBLEM STATEMENTS &amp; OBJECTIVES</vt:lpstr>
      <vt:lpstr>LITERATURE SURVEY</vt:lpstr>
      <vt:lpstr>MODULE 1: LIVE SIGN CAPTURE MODULE</vt:lpstr>
      <vt:lpstr>MODULE 2: INTELLIGENT SIGN RECOGNITION MODULE</vt:lpstr>
      <vt:lpstr>MODULE 3: TRANSATION AND COMMUNICATION INTERFACE</vt:lpstr>
      <vt:lpstr>SYSTEM ARCHITECTURE</vt:lpstr>
      <vt:lpstr>RESULTS</vt:lpstr>
      <vt:lpstr>FUTURE ENHANCEMENTS</vt:lpstr>
      <vt:lpstr>CONCLUSION</vt:lpstr>
      <vt:lpstr>REFERENCES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Ultra Bot 2000</dc:creator>
  <cp:lastModifiedBy>Ultra Bot 2000</cp:lastModifiedBy>
  <cp:revision>4</cp:revision>
  <dcterms:created xsi:type="dcterms:W3CDTF">2026-07-25T03:25:02Z</dcterms:created>
  <dcterms:modified xsi:type="dcterms:W3CDTF">2026-07-25T05:59:35Z</dcterms:modified>
</cp:coreProperties>
</file>